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9" r:id="rId4"/>
    <p:sldId id="258" r:id="rId5"/>
    <p:sldId id="260" r:id="rId6"/>
    <p:sldId id="261" r:id="rId7"/>
    <p:sldId id="262" r:id="rId8"/>
    <p:sldId id="263" r:id="rId9"/>
    <p:sldId id="264" r:id="rId10"/>
    <p:sldId id="265" r:id="rId11"/>
    <p:sldId id="277" r:id="rId12"/>
    <p:sldId id="266" r:id="rId13"/>
    <p:sldId id="267" r:id="rId14"/>
    <p:sldId id="268" r:id="rId15"/>
    <p:sldId id="269" r:id="rId16"/>
    <p:sldId id="272" r:id="rId17"/>
    <p:sldId id="270" r:id="rId18"/>
    <p:sldId id="271" r:id="rId19"/>
    <p:sldId id="273" r:id="rId20"/>
    <p:sldId id="274" r:id="rId21"/>
    <p:sldId id="276" r:id="rId22"/>
    <p:sldId id="27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416" autoAdjust="0"/>
  </p:normalViewPr>
  <p:slideViewPr>
    <p:cSldViewPr snapToGrid="0">
      <p:cViewPr varScale="1">
        <p:scale>
          <a:sx n="116" d="100"/>
          <a:sy n="116" d="100"/>
        </p:scale>
        <p:origin x="33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9EEB31-301F-4BA6-951A-198B295E8B8E}" type="datetimeFigureOut">
              <a:rPr lang="en-IE" smtClean="0"/>
              <a:t>08/02/2023</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85871B-55D7-400A-B227-2618F5D98FF2}" type="slidenum">
              <a:rPr lang="en-IE" smtClean="0"/>
              <a:t>‹#›</a:t>
            </a:fld>
            <a:endParaRPr lang="en-IE"/>
          </a:p>
        </p:txBody>
      </p:sp>
    </p:spTree>
    <p:extLst>
      <p:ext uri="{BB962C8B-B14F-4D97-AF65-F5344CB8AC3E}">
        <p14:creationId xmlns:p14="http://schemas.microsoft.com/office/powerpoint/2010/main" val="3877596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Images Taken from : https://money.com/what-is-blockchain/ &amp; https://encrypted-tbn0.gstatic.com/images?q=tbn:ANd9GcSFf_vnTnwNa3eoY94W_a2VHwyWI8rFN-knp4ImN6tDVUfVamuOy8jL9ZSyrqixflBjYXg&amp;usqp=CAU</a:t>
            </a:r>
          </a:p>
        </p:txBody>
      </p:sp>
      <p:sp>
        <p:nvSpPr>
          <p:cNvPr id="4" name="Slide Number Placeholder 3"/>
          <p:cNvSpPr>
            <a:spLocks noGrp="1"/>
          </p:cNvSpPr>
          <p:nvPr>
            <p:ph type="sldNum" sz="quarter" idx="5"/>
          </p:nvPr>
        </p:nvSpPr>
        <p:spPr/>
        <p:txBody>
          <a:bodyPr/>
          <a:lstStyle/>
          <a:p>
            <a:fld id="{E985871B-55D7-400A-B227-2618F5D98FF2}" type="slidenum">
              <a:rPr lang="en-IE" smtClean="0"/>
              <a:t>3</a:t>
            </a:fld>
            <a:endParaRPr lang="en-IE"/>
          </a:p>
        </p:txBody>
      </p:sp>
    </p:spTree>
    <p:extLst>
      <p:ext uri="{BB962C8B-B14F-4D97-AF65-F5344CB8AC3E}">
        <p14:creationId xmlns:p14="http://schemas.microsoft.com/office/powerpoint/2010/main" val="2339473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Eastern Roman Empire</a:t>
            </a:r>
          </a:p>
        </p:txBody>
      </p:sp>
      <p:sp>
        <p:nvSpPr>
          <p:cNvPr id="4" name="Slide Number Placeholder 3"/>
          <p:cNvSpPr>
            <a:spLocks noGrp="1"/>
          </p:cNvSpPr>
          <p:nvPr>
            <p:ph type="sldNum" sz="quarter" idx="5"/>
          </p:nvPr>
        </p:nvSpPr>
        <p:spPr/>
        <p:txBody>
          <a:bodyPr/>
          <a:lstStyle/>
          <a:p>
            <a:fld id="{E985871B-55D7-400A-B227-2618F5D98FF2}" type="slidenum">
              <a:rPr lang="en-IE" smtClean="0"/>
              <a:t>12</a:t>
            </a:fld>
            <a:endParaRPr lang="en-IE"/>
          </a:p>
        </p:txBody>
      </p:sp>
    </p:spTree>
    <p:extLst>
      <p:ext uri="{BB962C8B-B14F-4D97-AF65-F5344CB8AC3E}">
        <p14:creationId xmlns:p14="http://schemas.microsoft.com/office/powerpoint/2010/main" val="557083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959DC-F0C5-135A-167F-6DFE6CE8B0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74A31CA7-D9D7-263F-0AB7-FC2EF31F18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ED3D89C4-4B3B-620A-ED51-D06D940D8DA1}"/>
              </a:ext>
            </a:extLst>
          </p:cNvPr>
          <p:cNvSpPr>
            <a:spLocks noGrp="1"/>
          </p:cNvSpPr>
          <p:nvPr>
            <p:ph type="dt" sz="half" idx="10"/>
          </p:nvPr>
        </p:nvSpPr>
        <p:spPr/>
        <p:txBody>
          <a:bodyPr/>
          <a:lstStyle/>
          <a:p>
            <a:fld id="{35701B19-33AB-41B4-B5D4-BB6E830B377A}" type="datetime1">
              <a:rPr lang="en-IE" smtClean="0"/>
              <a:t>08/02/2023</a:t>
            </a:fld>
            <a:endParaRPr lang="en-IE"/>
          </a:p>
        </p:txBody>
      </p:sp>
      <p:sp>
        <p:nvSpPr>
          <p:cNvPr id="5" name="Footer Placeholder 4">
            <a:extLst>
              <a:ext uri="{FF2B5EF4-FFF2-40B4-BE49-F238E27FC236}">
                <a16:creationId xmlns:a16="http://schemas.microsoft.com/office/drawing/2014/main" id="{B567A38F-BDAF-672A-0867-606C4CD6533A}"/>
              </a:ext>
            </a:extLst>
          </p:cNvPr>
          <p:cNvSpPr>
            <a:spLocks noGrp="1"/>
          </p:cNvSpPr>
          <p:nvPr>
            <p:ph type="ftr" sz="quarter" idx="11"/>
          </p:nvPr>
        </p:nvSpPr>
        <p:spPr/>
        <p:txBody>
          <a:bodyPr/>
          <a:lstStyle/>
          <a:p>
            <a:r>
              <a:rPr lang="en-IE"/>
              <a:t>SHeeney23</a:t>
            </a:r>
          </a:p>
        </p:txBody>
      </p:sp>
      <p:sp>
        <p:nvSpPr>
          <p:cNvPr id="6" name="Slide Number Placeholder 5">
            <a:extLst>
              <a:ext uri="{FF2B5EF4-FFF2-40B4-BE49-F238E27FC236}">
                <a16:creationId xmlns:a16="http://schemas.microsoft.com/office/drawing/2014/main" id="{07DE203E-F29B-C41C-7A4C-1B8A0A8F6B36}"/>
              </a:ext>
            </a:extLst>
          </p:cNvPr>
          <p:cNvSpPr>
            <a:spLocks noGrp="1"/>
          </p:cNvSpPr>
          <p:nvPr>
            <p:ph type="sldNum" sz="quarter" idx="12"/>
          </p:nvPr>
        </p:nvSpPr>
        <p:spPr/>
        <p:txBody>
          <a:bodyPr/>
          <a:lstStyle/>
          <a:p>
            <a:fld id="{4FCA2375-F89F-41AB-8C69-5881ED019830}" type="slidenum">
              <a:rPr lang="en-IE" smtClean="0"/>
              <a:t>‹#›</a:t>
            </a:fld>
            <a:endParaRPr lang="en-IE"/>
          </a:p>
        </p:txBody>
      </p:sp>
    </p:spTree>
    <p:extLst>
      <p:ext uri="{BB962C8B-B14F-4D97-AF65-F5344CB8AC3E}">
        <p14:creationId xmlns:p14="http://schemas.microsoft.com/office/powerpoint/2010/main" val="3526666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71CAD-06AA-51EA-1117-08DA80AC4B5C}"/>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F5503D72-5EA0-524D-17DC-B018C03D91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3F6E9356-1ED0-4BD6-F2C8-91977F3BE5D1}"/>
              </a:ext>
            </a:extLst>
          </p:cNvPr>
          <p:cNvSpPr>
            <a:spLocks noGrp="1"/>
          </p:cNvSpPr>
          <p:nvPr>
            <p:ph type="dt" sz="half" idx="10"/>
          </p:nvPr>
        </p:nvSpPr>
        <p:spPr/>
        <p:txBody>
          <a:bodyPr/>
          <a:lstStyle/>
          <a:p>
            <a:fld id="{3E33023B-DE4A-4E18-8E34-4F38680AFC81}" type="datetime1">
              <a:rPr lang="en-IE" smtClean="0"/>
              <a:t>08/02/2023</a:t>
            </a:fld>
            <a:endParaRPr lang="en-IE"/>
          </a:p>
        </p:txBody>
      </p:sp>
      <p:sp>
        <p:nvSpPr>
          <p:cNvPr id="5" name="Footer Placeholder 4">
            <a:extLst>
              <a:ext uri="{FF2B5EF4-FFF2-40B4-BE49-F238E27FC236}">
                <a16:creationId xmlns:a16="http://schemas.microsoft.com/office/drawing/2014/main" id="{D954E81E-5846-79CB-CC1A-89ACCCDEFA9D}"/>
              </a:ext>
            </a:extLst>
          </p:cNvPr>
          <p:cNvSpPr>
            <a:spLocks noGrp="1"/>
          </p:cNvSpPr>
          <p:nvPr>
            <p:ph type="ftr" sz="quarter" idx="11"/>
          </p:nvPr>
        </p:nvSpPr>
        <p:spPr/>
        <p:txBody>
          <a:bodyPr/>
          <a:lstStyle/>
          <a:p>
            <a:r>
              <a:rPr lang="en-IE"/>
              <a:t>SHeeney23</a:t>
            </a:r>
          </a:p>
        </p:txBody>
      </p:sp>
      <p:sp>
        <p:nvSpPr>
          <p:cNvPr id="6" name="Slide Number Placeholder 5">
            <a:extLst>
              <a:ext uri="{FF2B5EF4-FFF2-40B4-BE49-F238E27FC236}">
                <a16:creationId xmlns:a16="http://schemas.microsoft.com/office/drawing/2014/main" id="{2456C487-24B5-4372-EEA9-EB74F3BB158C}"/>
              </a:ext>
            </a:extLst>
          </p:cNvPr>
          <p:cNvSpPr>
            <a:spLocks noGrp="1"/>
          </p:cNvSpPr>
          <p:nvPr>
            <p:ph type="sldNum" sz="quarter" idx="12"/>
          </p:nvPr>
        </p:nvSpPr>
        <p:spPr/>
        <p:txBody>
          <a:bodyPr/>
          <a:lstStyle/>
          <a:p>
            <a:fld id="{4FCA2375-F89F-41AB-8C69-5881ED019830}" type="slidenum">
              <a:rPr lang="en-IE" smtClean="0"/>
              <a:t>‹#›</a:t>
            </a:fld>
            <a:endParaRPr lang="en-IE"/>
          </a:p>
        </p:txBody>
      </p:sp>
    </p:spTree>
    <p:extLst>
      <p:ext uri="{BB962C8B-B14F-4D97-AF65-F5344CB8AC3E}">
        <p14:creationId xmlns:p14="http://schemas.microsoft.com/office/powerpoint/2010/main" val="3508688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B797B-D68E-089C-9E00-16FA3A942C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4A0FB76D-DF68-5608-61E9-D79A341340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ADFEC8-F7BC-7B36-B971-406AA1AB819F}"/>
              </a:ext>
            </a:extLst>
          </p:cNvPr>
          <p:cNvSpPr>
            <a:spLocks noGrp="1"/>
          </p:cNvSpPr>
          <p:nvPr>
            <p:ph type="dt" sz="half" idx="10"/>
          </p:nvPr>
        </p:nvSpPr>
        <p:spPr/>
        <p:txBody>
          <a:bodyPr/>
          <a:lstStyle/>
          <a:p>
            <a:fld id="{E9C1E8D0-223F-4298-B398-F956AEFA56F6}" type="datetime1">
              <a:rPr lang="en-IE" smtClean="0"/>
              <a:t>08/02/2023</a:t>
            </a:fld>
            <a:endParaRPr lang="en-IE"/>
          </a:p>
        </p:txBody>
      </p:sp>
      <p:sp>
        <p:nvSpPr>
          <p:cNvPr id="5" name="Footer Placeholder 4">
            <a:extLst>
              <a:ext uri="{FF2B5EF4-FFF2-40B4-BE49-F238E27FC236}">
                <a16:creationId xmlns:a16="http://schemas.microsoft.com/office/drawing/2014/main" id="{29BFCDD1-AB13-0DA6-3658-E26321634F5D}"/>
              </a:ext>
            </a:extLst>
          </p:cNvPr>
          <p:cNvSpPr>
            <a:spLocks noGrp="1"/>
          </p:cNvSpPr>
          <p:nvPr>
            <p:ph type="ftr" sz="quarter" idx="11"/>
          </p:nvPr>
        </p:nvSpPr>
        <p:spPr/>
        <p:txBody>
          <a:bodyPr/>
          <a:lstStyle/>
          <a:p>
            <a:r>
              <a:rPr lang="en-IE"/>
              <a:t>SHeeney23</a:t>
            </a:r>
          </a:p>
        </p:txBody>
      </p:sp>
      <p:sp>
        <p:nvSpPr>
          <p:cNvPr id="6" name="Slide Number Placeholder 5">
            <a:extLst>
              <a:ext uri="{FF2B5EF4-FFF2-40B4-BE49-F238E27FC236}">
                <a16:creationId xmlns:a16="http://schemas.microsoft.com/office/drawing/2014/main" id="{7AB09C40-7CD1-145A-723C-919357200CB3}"/>
              </a:ext>
            </a:extLst>
          </p:cNvPr>
          <p:cNvSpPr>
            <a:spLocks noGrp="1"/>
          </p:cNvSpPr>
          <p:nvPr>
            <p:ph type="sldNum" sz="quarter" idx="12"/>
          </p:nvPr>
        </p:nvSpPr>
        <p:spPr/>
        <p:txBody>
          <a:bodyPr/>
          <a:lstStyle/>
          <a:p>
            <a:fld id="{4FCA2375-F89F-41AB-8C69-5881ED019830}" type="slidenum">
              <a:rPr lang="en-IE" smtClean="0"/>
              <a:t>‹#›</a:t>
            </a:fld>
            <a:endParaRPr lang="en-IE"/>
          </a:p>
        </p:txBody>
      </p:sp>
    </p:spTree>
    <p:extLst>
      <p:ext uri="{BB962C8B-B14F-4D97-AF65-F5344CB8AC3E}">
        <p14:creationId xmlns:p14="http://schemas.microsoft.com/office/powerpoint/2010/main" val="4262778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0E59C-78DE-9A06-7308-9675C0740B6A}"/>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4C8F5DF1-2B1E-3B0F-47C1-108B913D33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03410850-2D8B-1B11-36DE-0B57DFF911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71939078-0364-104D-44A5-89D15BAC02A3}"/>
              </a:ext>
            </a:extLst>
          </p:cNvPr>
          <p:cNvSpPr>
            <a:spLocks noGrp="1"/>
          </p:cNvSpPr>
          <p:nvPr>
            <p:ph type="dt" sz="half" idx="10"/>
          </p:nvPr>
        </p:nvSpPr>
        <p:spPr/>
        <p:txBody>
          <a:bodyPr/>
          <a:lstStyle/>
          <a:p>
            <a:fld id="{88C18842-674B-4709-A7E2-5030AEB7CEAD}" type="datetime1">
              <a:rPr lang="en-IE" smtClean="0"/>
              <a:t>08/02/2023</a:t>
            </a:fld>
            <a:endParaRPr lang="en-IE"/>
          </a:p>
        </p:txBody>
      </p:sp>
      <p:sp>
        <p:nvSpPr>
          <p:cNvPr id="6" name="Footer Placeholder 5">
            <a:extLst>
              <a:ext uri="{FF2B5EF4-FFF2-40B4-BE49-F238E27FC236}">
                <a16:creationId xmlns:a16="http://schemas.microsoft.com/office/drawing/2014/main" id="{D07A2887-E757-ED11-77A4-EF9FA13B9315}"/>
              </a:ext>
            </a:extLst>
          </p:cNvPr>
          <p:cNvSpPr>
            <a:spLocks noGrp="1"/>
          </p:cNvSpPr>
          <p:nvPr>
            <p:ph type="ftr" sz="quarter" idx="11"/>
          </p:nvPr>
        </p:nvSpPr>
        <p:spPr/>
        <p:txBody>
          <a:bodyPr/>
          <a:lstStyle/>
          <a:p>
            <a:r>
              <a:rPr lang="en-IE"/>
              <a:t>SHeeney23</a:t>
            </a:r>
          </a:p>
        </p:txBody>
      </p:sp>
      <p:sp>
        <p:nvSpPr>
          <p:cNvPr id="7" name="Slide Number Placeholder 6">
            <a:extLst>
              <a:ext uri="{FF2B5EF4-FFF2-40B4-BE49-F238E27FC236}">
                <a16:creationId xmlns:a16="http://schemas.microsoft.com/office/drawing/2014/main" id="{C8158C4F-CD91-6FE7-D6C0-7993AD536796}"/>
              </a:ext>
            </a:extLst>
          </p:cNvPr>
          <p:cNvSpPr>
            <a:spLocks noGrp="1"/>
          </p:cNvSpPr>
          <p:nvPr>
            <p:ph type="sldNum" sz="quarter" idx="12"/>
          </p:nvPr>
        </p:nvSpPr>
        <p:spPr/>
        <p:txBody>
          <a:bodyPr/>
          <a:lstStyle/>
          <a:p>
            <a:fld id="{4FCA2375-F89F-41AB-8C69-5881ED019830}" type="slidenum">
              <a:rPr lang="en-IE" smtClean="0"/>
              <a:t>‹#›</a:t>
            </a:fld>
            <a:endParaRPr lang="en-IE"/>
          </a:p>
        </p:txBody>
      </p:sp>
    </p:spTree>
    <p:extLst>
      <p:ext uri="{BB962C8B-B14F-4D97-AF65-F5344CB8AC3E}">
        <p14:creationId xmlns:p14="http://schemas.microsoft.com/office/powerpoint/2010/main" val="2390418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0FA79-20CB-22F3-01CF-0F0392D6DA70}"/>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D38A8AB9-47A9-776C-9895-D0B5D41611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C28516-0A0F-A080-56D2-98BC2F4EAB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01445B41-2C67-D0CE-577A-FD8EAFAB03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ABEEBC-6F8A-8FA9-363B-CC5189E2E2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1087CFF8-734F-B2E3-C3DC-6DDE7D30A1AF}"/>
              </a:ext>
            </a:extLst>
          </p:cNvPr>
          <p:cNvSpPr>
            <a:spLocks noGrp="1"/>
          </p:cNvSpPr>
          <p:nvPr>
            <p:ph type="dt" sz="half" idx="10"/>
          </p:nvPr>
        </p:nvSpPr>
        <p:spPr/>
        <p:txBody>
          <a:bodyPr/>
          <a:lstStyle/>
          <a:p>
            <a:fld id="{571CC7CC-2523-4A11-82D9-D02217CE65F4}" type="datetime1">
              <a:rPr lang="en-IE" smtClean="0"/>
              <a:t>08/02/2023</a:t>
            </a:fld>
            <a:endParaRPr lang="en-IE"/>
          </a:p>
        </p:txBody>
      </p:sp>
      <p:sp>
        <p:nvSpPr>
          <p:cNvPr id="8" name="Footer Placeholder 7">
            <a:extLst>
              <a:ext uri="{FF2B5EF4-FFF2-40B4-BE49-F238E27FC236}">
                <a16:creationId xmlns:a16="http://schemas.microsoft.com/office/drawing/2014/main" id="{086EE411-CC6A-98FD-467A-728778084048}"/>
              </a:ext>
            </a:extLst>
          </p:cNvPr>
          <p:cNvSpPr>
            <a:spLocks noGrp="1"/>
          </p:cNvSpPr>
          <p:nvPr>
            <p:ph type="ftr" sz="quarter" idx="11"/>
          </p:nvPr>
        </p:nvSpPr>
        <p:spPr/>
        <p:txBody>
          <a:bodyPr/>
          <a:lstStyle/>
          <a:p>
            <a:r>
              <a:rPr lang="en-IE"/>
              <a:t>SHeeney23</a:t>
            </a:r>
          </a:p>
        </p:txBody>
      </p:sp>
      <p:sp>
        <p:nvSpPr>
          <p:cNvPr id="9" name="Slide Number Placeholder 8">
            <a:extLst>
              <a:ext uri="{FF2B5EF4-FFF2-40B4-BE49-F238E27FC236}">
                <a16:creationId xmlns:a16="http://schemas.microsoft.com/office/drawing/2014/main" id="{5183DD4B-FE60-925B-2998-CE788C27CA2F}"/>
              </a:ext>
            </a:extLst>
          </p:cNvPr>
          <p:cNvSpPr>
            <a:spLocks noGrp="1"/>
          </p:cNvSpPr>
          <p:nvPr>
            <p:ph type="sldNum" sz="quarter" idx="12"/>
          </p:nvPr>
        </p:nvSpPr>
        <p:spPr/>
        <p:txBody>
          <a:bodyPr/>
          <a:lstStyle/>
          <a:p>
            <a:fld id="{4FCA2375-F89F-41AB-8C69-5881ED019830}" type="slidenum">
              <a:rPr lang="en-IE" smtClean="0"/>
              <a:t>‹#›</a:t>
            </a:fld>
            <a:endParaRPr lang="en-IE"/>
          </a:p>
        </p:txBody>
      </p:sp>
    </p:spTree>
    <p:extLst>
      <p:ext uri="{BB962C8B-B14F-4D97-AF65-F5344CB8AC3E}">
        <p14:creationId xmlns:p14="http://schemas.microsoft.com/office/powerpoint/2010/main" val="318169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D5B23-6C5A-793C-8B0E-725489B48D16}"/>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9A9228DA-F6EF-D30A-B7C3-D607231D1E66}"/>
              </a:ext>
            </a:extLst>
          </p:cNvPr>
          <p:cNvSpPr>
            <a:spLocks noGrp="1"/>
          </p:cNvSpPr>
          <p:nvPr>
            <p:ph type="dt" sz="half" idx="10"/>
          </p:nvPr>
        </p:nvSpPr>
        <p:spPr/>
        <p:txBody>
          <a:bodyPr/>
          <a:lstStyle/>
          <a:p>
            <a:fld id="{4CD9355B-9CEB-4CB2-A792-15A08AB52875}" type="datetime1">
              <a:rPr lang="en-IE" smtClean="0"/>
              <a:t>08/02/2023</a:t>
            </a:fld>
            <a:endParaRPr lang="en-IE"/>
          </a:p>
        </p:txBody>
      </p:sp>
      <p:sp>
        <p:nvSpPr>
          <p:cNvPr id="4" name="Footer Placeholder 3">
            <a:extLst>
              <a:ext uri="{FF2B5EF4-FFF2-40B4-BE49-F238E27FC236}">
                <a16:creationId xmlns:a16="http://schemas.microsoft.com/office/drawing/2014/main" id="{5C3638D1-70D0-D6B9-5DF0-A815335BD535}"/>
              </a:ext>
            </a:extLst>
          </p:cNvPr>
          <p:cNvSpPr>
            <a:spLocks noGrp="1"/>
          </p:cNvSpPr>
          <p:nvPr>
            <p:ph type="ftr" sz="quarter" idx="11"/>
          </p:nvPr>
        </p:nvSpPr>
        <p:spPr/>
        <p:txBody>
          <a:bodyPr/>
          <a:lstStyle/>
          <a:p>
            <a:r>
              <a:rPr lang="en-IE"/>
              <a:t>SHeeney23</a:t>
            </a:r>
          </a:p>
        </p:txBody>
      </p:sp>
      <p:sp>
        <p:nvSpPr>
          <p:cNvPr id="5" name="Slide Number Placeholder 4">
            <a:extLst>
              <a:ext uri="{FF2B5EF4-FFF2-40B4-BE49-F238E27FC236}">
                <a16:creationId xmlns:a16="http://schemas.microsoft.com/office/drawing/2014/main" id="{696E26D5-CFB8-FDDB-02D4-602BA7CE1D21}"/>
              </a:ext>
            </a:extLst>
          </p:cNvPr>
          <p:cNvSpPr>
            <a:spLocks noGrp="1"/>
          </p:cNvSpPr>
          <p:nvPr>
            <p:ph type="sldNum" sz="quarter" idx="12"/>
          </p:nvPr>
        </p:nvSpPr>
        <p:spPr/>
        <p:txBody>
          <a:bodyPr/>
          <a:lstStyle/>
          <a:p>
            <a:fld id="{4FCA2375-F89F-41AB-8C69-5881ED019830}" type="slidenum">
              <a:rPr lang="en-IE" smtClean="0"/>
              <a:t>‹#›</a:t>
            </a:fld>
            <a:endParaRPr lang="en-IE"/>
          </a:p>
        </p:txBody>
      </p:sp>
    </p:spTree>
    <p:extLst>
      <p:ext uri="{BB962C8B-B14F-4D97-AF65-F5344CB8AC3E}">
        <p14:creationId xmlns:p14="http://schemas.microsoft.com/office/powerpoint/2010/main" val="3841433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7C221C-61DD-9642-8116-A3E47B78C193}"/>
              </a:ext>
            </a:extLst>
          </p:cNvPr>
          <p:cNvSpPr>
            <a:spLocks noGrp="1"/>
          </p:cNvSpPr>
          <p:nvPr>
            <p:ph type="dt" sz="half" idx="10"/>
          </p:nvPr>
        </p:nvSpPr>
        <p:spPr/>
        <p:txBody>
          <a:bodyPr/>
          <a:lstStyle/>
          <a:p>
            <a:fld id="{4210EFF4-70B2-48C7-B6AF-03BDD0130C25}" type="datetime1">
              <a:rPr lang="en-IE" smtClean="0"/>
              <a:t>08/02/2023</a:t>
            </a:fld>
            <a:endParaRPr lang="en-IE"/>
          </a:p>
        </p:txBody>
      </p:sp>
      <p:sp>
        <p:nvSpPr>
          <p:cNvPr id="3" name="Footer Placeholder 2">
            <a:extLst>
              <a:ext uri="{FF2B5EF4-FFF2-40B4-BE49-F238E27FC236}">
                <a16:creationId xmlns:a16="http://schemas.microsoft.com/office/drawing/2014/main" id="{B30ADB4D-311A-CCAD-54DD-21FD49E54D4B}"/>
              </a:ext>
            </a:extLst>
          </p:cNvPr>
          <p:cNvSpPr>
            <a:spLocks noGrp="1"/>
          </p:cNvSpPr>
          <p:nvPr>
            <p:ph type="ftr" sz="quarter" idx="11"/>
          </p:nvPr>
        </p:nvSpPr>
        <p:spPr/>
        <p:txBody>
          <a:bodyPr/>
          <a:lstStyle/>
          <a:p>
            <a:r>
              <a:rPr lang="en-IE"/>
              <a:t>SHeeney23</a:t>
            </a:r>
          </a:p>
        </p:txBody>
      </p:sp>
      <p:sp>
        <p:nvSpPr>
          <p:cNvPr id="4" name="Slide Number Placeholder 3">
            <a:extLst>
              <a:ext uri="{FF2B5EF4-FFF2-40B4-BE49-F238E27FC236}">
                <a16:creationId xmlns:a16="http://schemas.microsoft.com/office/drawing/2014/main" id="{F3843861-8CBF-14B7-27B7-B51F4ED45B03}"/>
              </a:ext>
            </a:extLst>
          </p:cNvPr>
          <p:cNvSpPr>
            <a:spLocks noGrp="1"/>
          </p:cNvSpPr>
          <p:nvPr>
            <p:ph type="sldNum" sz="quarter" idx="12"/>
          </p:nvPr>
        </p:nvSpPr>
        <p:spPr/>
        <p:txBody>
          <a:bodyPr/>
          <a:lstStyle/>
          <a:p>
            <a:fld id="{4FCA2375-F89F-41AB-8C69-5881ED019830}" type="slidenum">
              <a:rPr lang="en-IE" smtClean="0"/>
              <a:t>‹#›</a:t>
            </a:fld>
            <a:endParaRPr lang="en-IE"/>
          </a:p>
        </p:txBody>
      </p:sp>
    </p:spTree>
    <p:extLst>
      <p:ext uri="{BB962C8B-B14F-4D97-AF65-F5344CB8AC3E}">
        <p14:creationId xmlns:p14="http://schemas.microsoft.com/office/powerpoint/2010/main" val="3997824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A862F-E477-0F8E-9E2C-1C2623C14A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88A843DD-EF42-56A1-54F0-701DB26F02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BCE040DC-6E76-7B72-C297-41F2AAE8BB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53CC43-D09E-5A64-1271-395C90865E7C}"/>
              </a:ext>
            </a:extLst>
          </p:cNvPr>
          <p:cNvSpPr>
            <a:spLocks noGrp="1"/>
          </p:cNvSpPr>
          <p:nvPr>
            <p:ph type="dt" sz="half" idx="10"/>
          </p:nvPr>
        </p:nvSpPr>
        <p:spPr/>
        <p:txBody>
          <a:bodyPr/>
          <a:lstStyle/>
          <a:p>
            <a:fld id="{93EF0C73-F5AC-42F5-960D-CC8B0BDAD2C9}" type="datetime1">
              <a:rPr lang="en-IE" smtClean="0"/>
              <a:t>08/02/2023</a:t>
            </a:fld>
            <a:endParaRPr lang="en-IE"/>
          </a:p>
        </p:txBody>
      </p:sp>
      <p:sp>
        <p:nvSpPr>
          <p:cNvPr id="6" name="Footer Placeholder 5">
            <a:extLst>
              <a:ext uri="{FF2B5EF4-FFF2-40B4-BE49-F238E27FC236}">
                <a16:creationId xmlns:a16="http://schemas.microsoft.com/office/drawing/2014/main" id="{3FF0DACE-15CA-92C7-E77E-226D2CB4223B}"/>
              </a:ext>
            </a:extLst>
          </p:cNvPr>
          <p:cNvSpPr>
            <a:spLocks noGrp="1"/>
          </p:cNvSpPr>
          <p:nvPr>
            <p:ph type="ftr" sz="quarter" idx="11"/>
          </p:nvPr>
        </p:nvSpPr>
        <p:spPr/>
        <p:txBody>
          <a:bodyPr/>
          <a:lstStyle/>
          <a:p>
            <a:r>
              <a:rPr lang="en-IE"/>
              <a:t>SHeeney23</a:t>
            </a:r>
          </a:p>
        </p:txBody>
      </p:sp>
      <p:sp>
        <p:nvSpPr>
          <p:cNvPr id="7" name="Slide Number Placeholder 6">
            <a:extLst>
              <a:ext uri="{FF2B5EF4-FFF2-40B4-BE49-F238E27FC236}">
                <a16:creationId xmlns:a16="http://schemas.microsoft.com/office/drawing/2014/main" id="{C09C925B-4EB5-A74D-473D-6F68FB54F8F0}"/>
              </a:ext>
            </a:extLst>
          </p:cNvPr>
          <p:cNvSpPr>
            <a:spLocks noGrp="1"/>
          </p:cNvSpPr>
          <p:nvPr>
            <p:ph type="sldNum" sz="quarter" idx="12"/>
          </p:nvPr>
        </p:nvSpPr>
        <p:spPr/>
        <p:txBody>
          <a:bodyPr/>
          <a:lstStyle/>
          <a:p>
            <a:fld id="{4FCA2375-F89F-41AB-8C69-5881ED019830}" type="slidenum">
              <a:rPr lang="en-IE" smtClean="0"/>
              <a:t>‹#›</a:t>
            </a:fld>
            <a:endParaRPr lang="en-IE"/>
          </a:p>
        </p:txBody>
      </p:sp>
    </p:spTree>
    <p:extLst>
      <p:ext uri="{BB962C8B-B14F-4D97-AF65-F5344CB8AC3E}">
        <p14:creationId xmlns:p14="http://schemas.microsoft.com/office/powerpoint/2010/main" val="1085919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6D334-0502-687C-6675-A344C6F972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4AC5418A-B38F-1665-98CD-BE40420D84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508639A3-5B95-2A46-93D8-7EDEF79C7D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D73FBE-3C70-46E6-43B3-269E29BE7CF1}"/>
              </a:ext>
            </a:extLst>
          </p:cNvPr>
          <p:cNvSpPr>
            <a:spLocks noGrp="1"/>
          </p:cNvSpPr>
          <p:nvPr>
            <p:ph type="dt" sz="half" idx="10"/>
          </p:nvPr>
        </p:nvSpPr>
        <p:spPr/>
        <p:txBody>
          <a:bodyPr/>
          <a:lstStyle/>
          <a:p>
            <a:fld id="{DBFB1878-8F93-44AD-AA1F-92081784E650}" type="datetime1">
              <a:rPr lang="en-IE" smtClean="0"/>
              <a:t>08/02/2023</a:t>
            </a:fld>
            <a:endParaRPr lang="en-IE"/>
          </a:p>
        </p:txBody>
      </p:sp>
      <p:sp>
        <p:nvSpPr>
          <p:cNvPr id="6" name="Footer Placeholder 5">
            <a:extLst>
              <a:ext uri="{FF2B5EF4-FFF2-40B4-BE49-F238E27FC236}">
                <a16:creationId xmlns:a16="http://schemas.microsoft.com/office/drawing/2014/main" id="{D0CA805D-E060-7B1B-29A7-E4ED4E8A118C}"/>
              </a:ext>
            </a:extLst>
          </p:cNvPr>
          <p:cNvSpPr>
            <a:spLocks noGrp="1"/>
          </p:cNvSpPr>
          <p:nvPr>
            <p:ph type="ftr" sz="quarter" idx="11"/>
          </p:nvPr>
        </p:nvSpPr>
        <p:spPr/>
        <p:txBody>
          <a:bodyPr/>
          <a:lstStyle/>
          <a:p>
            <a:r>
              <a:rPr lang="en-IE"/>
              <a:t>SHeeney23</a:t>
            </a:r>
          </a:p>
        </p:txBody>
      </p:sp>
      <p:sp>
        <p:nvSpPr>
          <p:cNvPr id="7" name="Slide Number Placeholder 6">
            <a:extLst>
              <a:ext uri="{FF2B5EF4-FFF2-40B4-BE49-F238E27FC236}">
                <a16:creationId xmlns:a16="http://schemas.microsoft.com/office/drawing/2014/main" id="{B8B22819-50B1-D778-FBB9-1E57DCA9E63A}"/>
              </a:ext>
            </a:extLst>
          </p:cNvPr>
          <p:cNvSpPr>
            <a:spLocks noGrp="1"/>
          </p:cNvSpPr>
          <p:nvPr>
            <p:ph type="sldNum" sz="quarter" idx="12"/>
          </p:nvPr>
        </p:nvSpPr>
        <p:spPr/>
        <p:txBody>
          <a:bodyPr/>
          <a:lstStyle/>
          <a:p>
            <a:fld id="{4FCA2375-F89F-41AB-8C69-5881ED019830}" type="slidenum">
              <a:rPr lang="en-IE" smtClean="0"/>
              <a:t>‹#›</a:t>
            </a:fld>
            <a:endParaRPr lang="en-IE"/>
          </a:p>
        </p:txBody>
      </p:sp>
    </p:spTree>
    <p:extLst>
      <p:ext uri="{BB962C8B-B14F-4D97-AF65-F5344CB8AC3E}">
        <p14:creationId xmlns:p14="http://schemas.microsoft.com/office/powerpoint/2010/main" val="48655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A6A10-7678-990F-5947-D96A2AD45837}"/>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0F7C693F-5821-C0A9-8CC3-46A4C0CCCD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4B10690D-C7D5-3B6F-E927-4FA6DB623AFA}"/>
              </a:ext>
            </a:extLst>
          </p:cNvPr>
          <p:cNvSpPr>
            <a:spLocks noGrp="1"/>
          </p:cNvSpPr>
          <p:nvPr>
            <p:ph type="dt" sz="half" idx="10"/>
          </p:nvPr>
        </p:nvSpPr>
        <p:spPr/>
        <p:txBody>
          <a:bodyPr/>
          <a:lstStyle/>
          <a:p>
            <a:fld id="{3FDA7351-20C8-4EE8-A1C9-B587948CBBA8}" type="datetime1">
              <a:rPr lang="en-IE" smtClean="0"/>
              <a:t>08/02/2023</a:t>
            </a:fld>
            <a:endParaRPr lang="en-IE"/>
          </a:p>
        </p:txBody>
      </p:sp>
      <p:sp>
        <p:nvSpPr>
          <p:cNvPr id="5" name="Footer Placeholder 4">
            <a:extLst>
              <a:ext uri="{FF2B5EF4-FFF2-40B4-BE49-F238E27FC236}">
                <a16:creationId xmlns:a16="http://schemas.microsoft.com/office/drawing/2014/main" id="{13038F6A-696A-1A08-6044-8A4B9CBEF09B}"/>
              </a:ext>
            </a:extLst>
          </p:cNvPr>
          <p:cNvSpPr>
            <a:spLocks noGrp="1"/>
          </p:cNvSpPr>
          <p:nvPr>
            <p:ph type="ftr" sz="quarter" idx="11"/>
          </p:nvPr>
        </p:nvSpPr>
        <p:spPr/>
        <p:txBody>
          <a:bodyPr/>
          <a:lstStyle/>
          <a:p>
            <a:r>
              <a:rPr lang="en-IE"/>
              <a:t>SHeeney23</a:t>
            </a:r>
          </a:p>
        </p:txBody>
      </p:sp>
      <p:sp>
        <p:nvSpPr>
          <p:cNvPr id="6" name="Slide Number Placeholder 5">
            <a:extLst>
              <a:ext uri="{FF2B5EF4-FFF2-40B4-BE49-F238E27FC236}">
                <a16:creationId xmlns:a16="http://schemas.microsoft.com/office/drawing/2014/main" id="{FF06909C-ACDA-EA97-E59E-95E70986B058}"/>
              </a:ext>
            </a:extLst>
          </p:cNvPr>
          <p:cNvSpPr>
            <a:spLocks noGrp="1"/>
          </p:cNvSpPr>
          <p:nvPr>
            <p:ph type="sldNum" sz="quarter" idx="12"/>
          </p:nvPr>
        </p:nvSpPr>
        <p:spPr/>
        <p:txBody>
          <a:bodyPr/>
          <a:lstStyle/>
          <a:p>
            <a:fld id="{4FCA2375-F89F-41AB-8C69-5881ED019830}" type="slidenum">
              <a:rPr lang="en-IE" smtClean="0"/>
              <a:t>‹#›</a:t>
            </a:fld>
            <a:endParaRPr lang="en-IE"/>
          </a:p>
        </p:txBody>
      </p:sp>
    </p:spTree>
    <p:extLst>
      <p:ext uri="{BB962C8B-B14F-4D97-AF65-F5344CB8AC3E}">
        <p14:creationId xmlns:p14="http://schemas.microsoft.com/office/powerpoint/2010/main" val="3126668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7199EA-A8AC-90FF-4CDA-D20347BF91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47F2E2C8-E0E9-D68F-5651-20C8F45824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9C4CC5C5-5D4F-BB1C-9CB9-DE63A7AB9655}"/>
              </a:ext>
            </a:extLst>
          </p:cNvPr>
          <p:cNvSpPr>
            <a:spLocks noGrp="1"/>
          </p:cNvSpPr>
          <p:nvPr>
            <p:ph type="dt" sz="half" idx="10"/>
          </p:nvPr>
        </p:nvSpPr>
        <p:spPr/>
        <p:txBody>
          <a:bodyPr/>
          <a:lstStyle/>
          <a:p>
            <a:fld id="{3BC39B75-58C4-4EE9-B0AD-76AB5B6987F0}" type="datetime1">
              <a:rPr lang="en-IE" smtClean="0"/>
              <a:t>08/02/2023</a:t>
            </a:fld>
            <a:endParaRPr lang="en-IE"/>
          </a:p>
        </p:txBody>
      </p:sp>
      <p:sp>
        <p:nvSpPr>
          <p:cNvPr id="5" name="Footer Placeholder 4">
            <a:extLst>
              <a:ext uri="{FF2B5EF4-FFF2-40B4-BE49-F238E27FC236}">
                <a16:creationId xmlns:a16="http://schemas.microsoft.com/office/drawing/2014/main" id="{2FAC3F71-EB26-4699-7713-9B78D4CCEC82}"/>
              </a:ext>
            </a:extLst>
          </p:cNvPr>
          <p:cNvSpPr>
            <a:spLocks noGrp="1"/>
          </p:cNvSpPr>
          <p:nvPr>
            <p:ph type="ftr" sz="quarter" idx="11"/>
          </p:nvPr>
        </p:nvSpPr>
        <p:spPr/>
        <p:txBody>
          <a:bodyPr/>
          <a:lstStyle/>
          <a:p>
            <a:r>
              <a:rPr lang="en-IE"/>
              <a:t>SHeeney23</a:t>
            </a:r>
          </a:p>
        </p:txBody>
      </p:sp>
      <p:sp>
        <p:nvSpPr>
          <p:cNvPr id="6" name="Slide Number Placeholder 5">
            <a:extLst>
              <a:ext uri="{FF2B5EF4-FFF2-40B4-BE49-F238E27FC236}">
                <a16:creationId xmlns:a16="http://schemas.microsoft.com/office/drawing/2014/main" id="{E3904A8C-A35D-D1A1-F43E-37E877C386F0}"/>
              </a:ext>
            </a:extLst>
          </p:cNvPr>
          <p:cNvSpPr>
            <a:spLocks noGrp="1"/>
          </p:cNvSpPr>
          <p:nvPr>
            <p:ph type="sldNum" sz="quarter" idx="12"/>
          </p:nvPr>
        </p:nvSpPr>
        <p:spPr/>
        <p:txBody>
          <a:bodyPr/>
          <a:lstStyle/>
          <a:p>
            <a:fld id="{4FCA2375-F89F-41AB-8C69-5881ED019830}" type="slidenum">
              <a:rPr lang="en-IE" smtClean="0"/>
              <a:t>‹#›</a:t>
            </a:fld>
            <a:endParaRPr lang="en-IE"/>
          </a:p>
        </p:txBody>
      </p:sp>
    </p:spTree>
    <p:extLst>
      <p:ext uri="{BB962C8B-B14F-4D97-AF65-F5344CB8AC3E}">
        <p14:creationId xmlns:p14="http://schemas.microsoft.com/office/powerpoint/2010/main" val="2743923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54FA0B-8AAA-BD58-41BF-78F44F1544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0927645E-FCDF-BBA3-D668-A16B72A3E5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045DE06B-CEF8-7374-3701-40D8BFD48A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C4CA3C-9B62-4606-B77E-2F7ADA4FE7C7}" type="datetime1">
              <a:rPr lang="en-IE" smtClean="0"/>
              <a:t>08/02/2023</a:t>
            </a:fld>
            <a:endParaRPr lang="en-IE"/>
          </a:p>
        </p:txBody>
      </p:sp>
      <p:sp>
        <p:nvSpPr>
          <p:cNvPr id="5" name="Footer Placeholder 4">
            <a:extLst>
              <a:ext uri="{FF2B5EF4-FFF2-40B4-BE49-F238E27FC236}">
                <a16:creationId xmlns:a16="http://schemas.microsoft.com/office/drawing/2014/main" id="{47BF9E2D-B90A-8A3D-C247-B7AC141A3F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E"/>
              <a:t>SHeeney23</a:t>
            </a:r>
          </a:p>
        </p:txBody>
      </p:sp>
      <p:sp>
        <p:nvSpPr>
          <p:cNvPr id="6" name="Slide Number Placeholder 5">
            <a:extLst>
              <a:ext uri="{FF2B5EF4-FFF2-40B4-BE49-F238E27FC236}">
                <a16:creationId xmlns:a16="http://schemas.microsoft.com/office/drawing/2014/main" id="{3ABE0B25-6B67-C30C-70F4-2CE6D4E994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CA2375-F89F-41AB-8C69-5881ED019830}" type="slidenum">
              <a:rPr lang="en-IE" smtClean="0"/>
              <a:t>‹#›</a:t>
            </a:fld>
            <a:endParaRPr lang="en-IE"/>
          </a:p>
        </p:txBody>
      </p:sp>
    </p:spTree>
    <p:extLst>
      <p:ext uri="{BB962C8B-B14F-4D97-AF65-F5344CB8AC3E}">
        <p14:creationId xmlns:p14="http://schemas.microsoft.com/office/powerpoint/2010/main" val="1916683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hyperlink" Target="https://btc.com/stats/pool" TargetMode="External"/><Relationship Id="rId5" Type="http://schemas.openxmlformats.org/officeDocument/2006/relationships/hyperlink" Target="https://www.asicminervalue.com/" TargetMode="External"/><Relationship Id="rId4" Type="http://schemas.openxmlformats.org/officeDocument/2006/relationships/hyperlink" Target="https://www.asicminervalue.com/miners/bitmain/antminer-s9-13-5th"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faucet.quicknode.com/ethereum/goerli/?transactionHash=0x72a42624ccb50d5f2c4fe637babb1adb4db147001b536412ae01340074de3961" TargetMode="External"/><Relationship Id="rId3" Type="http://schemas.openxmlformats.org/officeDocument/2006/relationships/hyperlink" Target="https://goerli.etherscan.io/" TargetMode="External"/><Relationship Id="rId7" Type="http://schemas.openxmlformats.org/officeDocument/2006/relationships/hyperlink" Target="https://goerlifaucet.com/" TargetMode="External"/><Relationship Id="rId2" Type="http://schemas.openxmlformats.org/officeDocument/2006/relationships/hyperlink" Target="https://ethereum.org/en/developers/docs/networks/" TargetMode="External"/><Relationship Id="rId1" Type="http://schemas.openxmlformats.org/officeDocument/2006/relationships/slideLayout" Target="../slideLayouts/slideLayout2.xml"/><Relationship Id="rId6" Type="http://schemas.openxmlformats.org/officeDocument/2006/relationships/hyperlink" Target="https://fauceth.komputing.org/?address=0x0b97Bc397357e6b95435a9b8B3D17FbcD528173E" TargetMode="External"/><Relationship Id="rId11" Type="http://schemas.openxmlformats.org/officeDocument/2006/relationships/image" Target="../media/image21.png"/><Relationship Id="rId5" Type="http://schemas.openxmlformats.org/officeDocument/2006/relationships/hyperlink" Target="https://sepolia-faucet.pk910.de/" TargetMode="External"/><Relationship Id="rId10" Type="http://schemas.openxmlformats.org/officeDocument/2006/relationships/image" Target="../media/image20.png"/><Relationship Id="rId4" Type="http://schemas.openxmlformats.org/officeDocument/2006/relationships/hyperlink" Target="https://sepolia.etherscan.io/" TargetMode="External"/><Relationship Id="rId9" Type="http://schemas.openxmlformats.org/officeDocument/2006/relationships/hyperlink" Target="https://app.mycrypto.com/dashboard"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ethereum.org/en/developer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3F3A1-9636-4ADF-EF08-F8F36B76D310}"/>
              </a:ext>
            </a:extLst>
          </p:cNvPr>
          <p:cNvSpPr>
            <a:spLocks noGrp="1"/>
          </p:cNvSpPr>
          <p:nvPr>
            <p:ph type="ctrTitle"/>
          </p:nvPr>
        </p:nvSpPr>
        <p:spPr>
          <a:xfrm>
            <a:off x="0" y="0"/>
            <a:ext cx="9144000" cy="2387600"/>
          </a:xfrm>
        </p:spPr>
        <p:txBody>
          <a:bodyPr/>
          <a:lstStyle/>
          <a:p>
            <a:pPr algn="l"/>
            <a:r>
              <a:rPr lang="en-IE" b="1" dirty="0">
                <a:solidFill>
                  <a:schemeClr val="bg1"/>
                </a:solidFill>
              </a:rPr>
              <a:t>Blockchain</a:t>
            </a:r>
            <a:br>
              <a:rPr lang="en-IE" b="1" dirty="0">
                <a:solidFill>
                  <a:schemeClr val="bg1"/>
                </a:solidFill>
              </a:rPr>
            </a:br>
            <a:r>
              <a:rPr lang="en-IE" b="1" dirty="0">
                <a:solidFill>
                  <a:srgbClr val="FF0000"/>
                </a:solidFill>
              </a:rPr>
              <a:t>Two</a:t>
            </a:r>
          </a:p>
        </p:txBody>
      </p:sp>
      <p:sp>
        <p:nvSpPr>
          <p:cNvPr id="4" name="Footer Placeholder 3">
            <a:extLst>
              <a:ext uri="{FF2B5EF4-FFF2-40B4-BE49-F238E27FC236}">
                <a16:creationId xmlns:a16="http://schemas.microsoft.com/office/drawing/2014/main" id="{934F5930-3B39-06EC-C835-D976E7B2192F}"/>
              </a:ext>
            </a:extLst>
          </p:cNvPr>
          <p:cNvSpPr>
            <a:spLocks noGrp="1"/>
          </p:cNvSpPr>
          <p:nvPr>
            <p:ph type="ftr" sz="quarter" idx="11"/>
          </p:nvPr>
        </p:nvSpPr>
        <p:spPr/>
        <p:txBody>
          <a:bodyPr/>
          <a:lstStyle/>
          <a:p>
            <a:r>
              <a:rPr lang="en-IE"/>
              <a:t>SHeeney23</a:t>
            </a:r>
          </a:p>
        </p:txBody>
      </p:sp>
    </p:spTree>
    <p:extLst>
      <p:ext uri="{BB962C8B-B14F-4D97-AF65-F5344CB8AC3E}">
        <p14:creationId xmlns:p14="http://schemas.microsoft.com/office/powerpoint/2010/main" val="3273882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A9393-7B7E-F40D-3377-27A2B57F294D}"/>
              </a:ext>
            </a:extLst>
          </p:cNvPr>
          <p:cNvSpPr>
            <a:spLocks noGrp="1"/>
          </p:cNvSpPr>
          <p:nvPr>
            <p:ph type="title"/>
          </p:nvPr>
        </p:nvSpPr>
        <p:spPr/>
        <p:txBody>
          <a:bodyPr/>
          <a:lstStyle/>
          <a:p>
            <a:r>
              <a:rPr lang="en-IE" dirty="0"/>
              <a:t>Revision From Week One &amp; Two</a:t>
            </a:r>
          </a:p>
        </p:txBody>
      </p:sp>
      <p:sp>
        <p:nvSpPr>
          <p:cNvPr id="3" name="Content Placeholder 2">
            <a:extLst>
              <a:ext uri="{FF2B5EF4-FFF2-40B4-BE49-F238E27FC236}">
                <a16:creationId xmlns:a16="http://schemas.microsoft.com/office/drawing/2014/main" id="{22DA9523-6536-4394-3266-46C76AE564E2}"/>
              </a:ext>
            </a:extLst>
          </p:cNvPr>
          <p:cNvSpPr>
            <a:spLocks noGrp="1"/>
          </p:cNvSpPr>
          <p:nvPr>
            <p:ph idx="1"/>
          </p:nvPr>
        </p:nvSpPr>
        <p:spPr/>
        <p:txBody>
          <a:bodyPr/>
          <a:lstStyle/>
          <a:p>
            <a:r>
              <a:rPr lang="en-IE" dirty="0"/>
              <a:t>BTC</a:t>
            </a:r>
          </a:p>
          <a:p>
            <a:r>
              <a:rPr lang="en-IE" dirty="0"/>
              <a:t>Who and Where</a:t>
            </a:r>
          </a:p>
          <a:p>
            <a:r>
              <a:rPr lang="en-IE" dirty="0"/>
              <a:t>Components / Technological </a:t>
            </a:r>
          </a:p>
          <a:p>
            <a:r>
              <a:rPr lang="en-IE" dirty="0"/>
              <a:t>Historic </a:t>
            </a:r>
          </a:p>
          <a:p>
            <a:r>
              <a:rPr lang="en-IE" dirty="0"/>
              <a:t>Some Stories – Growth and Pop Culture</a:t>
            </a:r>
          </a:p>
          <a:p>
            <a:r>
              <a:rPr lang="en-IE" dirty="0"/>
              <a:t>Miners &amp; Mining</a:t>
            </a:r>
          </a:p>
          <a:p>
            <a:r>
              <a:rPr lang="en-IE" dirty="0"/>
              <a:t>Difficulty</a:t>
            </a:r>
          </a:p>
          <a:p>
            <a:r>
              <a:rPr lang="en-IE" dirty="0"/>
              <a:t>Cryptography</a:t>
            </a:r>
          </a:p>
        </p:txBody>
      </p:sp>
      <p:sp>
        <p:nvSpPr>
          <p:cNvPr id="4" name="Footer Placeholder 3">
            <a:extLst>
              <a:ext uri="{FF2B5EF4-FFF2-40B4-BE49-F238E27FC236}">
                <a16:creationId xmlns:a16="http://schemas.microsoft.com/office/drawing/2014/main" id="{19E150C3-BCE9-6685-780C-65BC68D0C723}"/>
              </a:ext>
            </a:extLst>
          </p:cNvPr>
          <p:cNvSpPr>
            <a:spLocks noGrp="1"/>
          </p:cNvSpPr>
          <p:nvPr>
            <p:ph type="ftr" sz="quarter" idx="11"/>
          </p:nvPr>
        </p:nvSpPr>
        <p:spPr/>
        <p:txBody>
          <a:bodyPr/>
          <a:lstStyle/>
          <a:p>
            <a:r>
              <a:rPr lang="en-IE"/>
              <a:t>SHeeney23</a:t>
            </a:r>
          </a:p>
        </p:txBody>
      </p:sp>
    </p:spTree>
    <p:extLst>
      <p:ext uri="{BB962C8B-B14F-4D97-AF65-F5344CB8AC3E}">
        <p14:creationId xmlns:p14="http://schemas.microsoft.com/office/powerpoint/2010/main" val="641621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79D866-846A-BBB3-B404-802B88D0683E}"/>
              </a:ext>
            </a:extLst>
          </p:cNvPr>
          <p:cNvSpPr>
            <a:spLocks noGrp="1"/>
          </p:cNvSpPr>
          <p:nvPr>
            <p:ph idx="1"/>
          </p:nvPr>
        </p:nvSpPr>
        <p:spPr/>
        <p:txBody>
          <a:bodyPr>
            <a:normAutofit fontScale="92500" lnSpcReduction="20000"/>
          </a:bodyPr>
          <a:lstStyle/>
          <a:p>
            <a:endParaRPr lang="en-IE" dirty="0"/>
          </a:p>
          <a:p>
            <a:r>
              <a:rPr lang="en-IE" dirty="0"/>
              <a:t>What is Blockchain </a:t>
            </a:r>
          </a:p>
          <a:p>
            <a:r>
              <a:rPr lang="en-IE" dirty="0"/>
              <a:t>Block – Each Transaction is Taken from a Pool of Transactions and Formed into a Block of Transactions. </a:t>
            </a:r>
          </a:p>
          <a:p>
            <a:endParaRPr lang="en-IE" dirty="0"/>
          </a:p>
          <a:p>
            <a:r>
              <a:rPr lang="en-IE" dirty="0"/>
              <a:t>The Chain – These are Cryptographic Functions which link each block together</a:t>
            </a:r>
          </a:p>
          <a:p>
            <a:endParaRPr lang="en-IE" dirty="0"/>
          </a:p>
          <a:p>
            <a:r>
              <a:rPr lang="en-IE" dirty="0"/>
              <a:t>Blockchain</a:t>
            </a:r>
          </a:p>
          <a:p>
            <a:r>
              <a:rPr lang="en-IE" dirty="0"/>
              <a:t>Blockchain Should or Can , be considered as a Sub-Set of DLT</a:t>
            </a:r>
          </a:p>
          <a:p>
            <a:r>
              <a:rPr lang="en-IE" dirty="0"/>
              <a:t>Distributed Ledger Technology</a:t>
            </a:r>
          </a:p>
        </p:txBody>
      </p:sp>
      <p:sp>
        <p:nvSpPr>
          <p:cNvPr id="4" name="Footer Placeholder 3">
            <a:extLst>
              <a:ext uri="{FF2B5EF4-FFF2-40B4-BE49-F238E27FC236}">
                <a16:creationId xmlns:a16="http://schemas.microsoft.com/office/drawing/2014/main" id="{D92B5A7D-6B78-D501-5386-3AEC4006F3BC}"/>
              </a:ext>
            </a:extLst>
          </p:cNvPr>
          <p:cNvSpPr>
            <a:spLocks noGrp="1"/>
          </p:cNvSpPr>
          <p:nvPr>
            <p:ph type="ftr" sz="quarter" idx="11"/>
          </p:nvPr>
        </p:nvSpPr>
        <p:spPr/>
        <p:txBody>
          <a:bodyPr/>
          <a:lstStyle/>
          <a:p>
            <a:r>
              <a:rPr lang="en-IE" dirty="0"/>
              <a:t>SHeeney23</a:t>
            </a:r>
          </a:p>
        </p:txBody>
      </p:sp>
      <p:pic>
        <p:nvPicPr>
          <p:cNvPr id="6" name="Picture 5">
            <a:extLst>
              <a:ext uri="{FF2B5EF4-FFF2-40B4-BE49-F238E27FC236}">
                <a16:creationId xmlns:a16="http://schemas.microsoft.com/office/drawing/2014/main" id="{2F3EC449-9F6D-8259-21B1-0E1DF971CB65}"/>
              </a:ext>
            </a:extLst>
          </p:cNvPr>
          <p:cNvPicPr>
            <a:picLocks noChangeAspect="1"/>
          </p:cNvPicPr>
          <p:nvPr/>
        </p:nvPicPr>
        <p:blipFill>
          <a:blip r:embed="rId3"/>
          <a:stretch>
            <a:fillRect/>
          </a:stretch>
        </p:blipFill>
        <p:spPr>
          <a:xfrm>
            <a:off x="3834907" y="0"/>
            <a:ext cx="4522186" cy="1971005"/>
          </a:xfrm>
          <a:prstGeom prst="rect">
            <a:avLst/>
          </a:prstGeom>
        </p:spPr>
      </p:pic>
      <p:pic>
        <p:nvPicPr>
          <p:cNvPr id="11" name="Picture 10">
            <a:extLst>
              <a:ext uri="{FF2B5EF4-FFF2-40B4-BE49-F238E27FC236}">
                <a16:creationId xmlns:a16="http://schemas.microsoft.com/office/drawing/2014/main" id="{F74757AD-D8CC-8398-0DD4-DD153C45F70B}"/>
              </a:ext>
            </a:extLst>
          </p:cNvPr>
          <p:cNvPicPr>
            <a:picLocks noChangeAspect="1"/>
          </p:cNvPicPr>
          <p:nvPr/>
        </p:nvPicPr>
        <p:blipFill>
          <a:blip r:embed="rId4"/>
          <a:stretch>
            <a:fillRect/>
          </a:stretch>
        </p:blipFill>
        <p:spPr>
          <a:xfrm>
            <a:off x="9459524" y="5338119"/>
            <a:ext cx="2716000" cy="1519881"/>
          </a:xfrm>
          <a:prstGeom prst="rect">
            <a:avLst/>
          </a:prstGeom>
        </p:spPr>
      </p:pic>
    </p:spTree>
    <p:extLst>
      <p:ext uri="{BB962C8B-B14F-4D97-AF65-F5344CB8AC3E}">
        <p14:creationId xmlns:p14="http://schemas.microsoft.com/office/powerpoint/2010/main" val="3193766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3419E-8966-6EDB-355F-73F9DE392599}"/>
              </a:ext>
            </a:extLst>
          </p:cNvPr>
          <p:cNvSpPr>
            <a:spLocks noGrp="1"/>
          </p:cNvSpPr>
          <p:nvPr>
            <p:ph type="title"/>
          </p:nvPr>
        </p:nvSpPr>
        <p:spPr/>
        <p:txBody>
          <a:bodyPr/>
          <a:lstStyle/>
          <a:p>
            <a:r>
              <a:rPr lang="en-IE" dirty="0"/>
              <a:t>Cryptographic Functions Linking Blocks</a:t>
            </a:r>
          </a:p>
        </p:txBody>
      </p:sp>
      <p:sp>
        <p:nvSpPr>
          <p:cNvPr id="3" name="Content Placeholder 2">
            <a:extLst>
              <a:ext uri="{FF2B5EF4-FFF2-40B4-BE49-F238E27FC236}">
                <a16:creationId xmlns:a16="http://schemas.microsoft.com/office/drawing/2014/main" id="{5C624515-E4BB-91A4-97FD-26179A159D78}"/>
              </a:ext>
            </a:extLst>
          </p:cNvPr>
          <p:cNvSpPr>
            <a:spLocks noGrp="1"/>
          </p:cNvSpPr>
          <p:nvPr>
            <p:ph idx="1"/>
          </p:nvPr>
        </p:nvSpPr>
        <p:spPr/>
        <p:txBody>
          <a:bodyPr/>
          <a:lstStyle/>
          <a:p>
            <a:r>
              <a:rPr lang="en-IE" dirty="0"/>
              <a:t>The Block and Header</a:t>
            </a:r>
          </a:p>
          <a:p>
            <a:r>
              <a:rPr lang="en-IE" dirty="0"/>
              <a:t>Within Each Block which is Mined to the Blockchain </a:t>
            </a:r>
          </a:p>
          <a:p>
            <a:r>
              <a:rPr lang="en-IE" dirty="0"/>
              <a:t>We have a typical composition / or Cross-section</a:t>
            </a:r>
          </a:p>
          <a:p>
            <a:r>
              <a:rPr lang="en-IE" dirty="0"/>
              <a:t>This is known as the Block Header : </a:t>
            </a:r>
          </a:p>
          <a:p>
            <a:r>
              <a:rPr lang="en-IE" dirty="0"/>
              <a:t>What do you See ? </a:t>
            </a:r>
          </a:p>
        </p:txBody>
      </p:sp>
      <p:sp>
        <p:nvSpPr>
          <p:cNvPr id="4" name="Footer Placeholder 3">
            <a:extLst>
              <a:ext uri="{FF2B5EF4-FFF2-40B4-BE49-F238E27FC236}">
                <a16:creationId xmlns:a16="http://schemas.microsoft.com/office/drawing/2014/main" id="{D062F529-7D7E-6888-C19D-97FFD13BB0DB}"/>
              </a:ext>
            </a:extLst>
          </p:cNvPr>
          <p:cNvSpPr>
            <a:spLocks noGrp="1"/>
          </p:cNvSpPr>
          <p:nvPr>
            <p:ph type="ftr" sz="quarter" idx="11"/>
          </p:nvPr>
        </p:nvSpPr>
        <p:spPr/>
        <p:txBody>
          <a:bodyPr/>
          <a:lstStyle/>
          <a:p>
            <a:r>
              <a:rPr lang="en-IE" dirty="0"/>
              <a:t>SHeeney23</a:t>
            </a:r>
          </a:p>
        </p:txBody>
      </p:sp>
      <p:pic>
        <p:nvPicPr>
          <p:cNvPr id="5" name="Picture 3">
            <a:extLst>
              <a:ext uri="{FF2B5EF4-FFF2-40B4-BE49-F238E27FC236}">
                <a16:creationId xmlns:a16="http://schemas.microsoft.com/office/drawing/2014/main" id="{1950BA34-6E87-419B-CAF2-DF06D56ABA08}"/>
              </a:ext>
            </a:extLst>
          </p:cNvPr>
          <p:cNvPicPr>
            <a:picLocks noChangeAspect="1" noChangeArrowheads="1"/>
          </p:cNvPicPr>
          <p:nvPr/>
        </p:nvPicPr>
        <p:blipFill>
          <a:blip r:embed="rId2"/>
          <a:srcRect/>
          <a:stretch>
            <a:fillRect/>
          </a:stretch>
        </p:blipFill>
        <p:spPr bwMode="auto">
          <a:xfrm>
            <a:off x="6487908" y="3936073"/>
            <a:ext cx="5513099" cy="2154798"/>
          </a:xfrm>
          <a:prstGeom prst="rect">
            <a:avLst/>
          </a:prstGeom>
          <a:noFill/>
          <a:ln w="9525">
            <a:noFill/>
            <a:miter lim="800000"/>
            <a:headEnd/>
            <a:tailEnd/>
          </a:ln>
          <a:effectLst/>
        </p:spPr>
      </p:pic>
    </p:spTree>
    <p:extLst>
      <p:ext uri="{BB962C8B-B14F-4D97-AF65-F5344CB8AC3E}">
        <p14:creationId xmlns:p14="http://schemas.microsoft.com/office/powerpoint/2010/main" val="2503656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66DB3-55C9-4A9F-DB77-193AA6E6F449}"/>
              </a:ext>
            </a:extLst>
          </p:cNvPr>
          <p:cNvSpPr>
            <a:spLocks noGrp="1"/>
          </p:cNvSpPr>
          <p:nvPr>
            <p:ph type="title"/>
          </p:nvPr>
        </p:nvSpPr>
        <p:spPr>
          <a:xfrm>
            <a:off x="838200" y="365126"/>
            <a:ext cx="8050427" cy="714032"/>
          </a:xfrm>
        </p:spPr>
        <p:txBody>
          <a:bodyPr/>
          <a:lstStyle/>
          <a:p>
            <a:r>
              <a:rPr lang="en-IE" dirty="0"/>
              <a:t>Dr Merkle and His Tree</a:t>
            </a:r>
          </a:p>
        </p:txBody>
      </p:sp>
      <p:sp>
        <p:nvSpPr>
          <p:cNvPr id="4" name="Footer Placeholder 3">
            <a:extLst>
              <a:ext uri="{FF2B5EF4-FFF2-40B4-BE49-F238E27FC236}">
                <a16:creationId xmlns:a16="http://schemas.microsoft.com/office/drawing/2014/main" id="{38AD4583-7212-F551-CB80-814094675E20}"/>
              </a:ext>
            </a:extLst>
          </p:cNvPr>
          <p:cNvSpPr>
            <a:spLocks noGrp="1"/>
          </p:cNvSpPr>
          <p:nvPr>
            <p:ph type="ftr" sz="quarter" idx="11"/>
          </p:nvPr>
        </p:nvSpPr>
        <p:spPr/>
        <p:txBody>
          <a:bodyPr/>
          <a:lstStyle/>
          <a:p>
            <a:r>
              <a:rPr lang="en-IE"/>
              <a:t>SHeeney23</a:t>
            </a:r>
          </a:p>
        </p:txBody>
      </p:sp>
      <p:pic>
        <p:nvPicPr>
          <p:cNvPr id="5" name="Picture 2">
            <a:extLst>
              <a:ext uri="{FF2B5EF4-FFF2-40B4-BE49-F238E27FC236}">
                <a16:creationId xmlns:a16="http://schemas.microsoft.com/office/drawing/2014/main" id="{DBD8099F-3B90-BBDA-DB79-2A28116F50D5}"/>
              </a:ext>
            </a:extLst>
          </p:cNvPr>
          <p:cNvPicPr>
            <a:picLocks noChangeAspect="1" noChangeArrowheads="1"/>
          </p:cNvPicPr>
          <p:nvPr/>
        </p:nvPicPr>
        <p:blipFill>
          <a:blip r:embed="rId2"/>
          <a:srcRect/>
          <a:stretch>
            <a:fillRect/>
          </a:stretch>
        </p:blipFill>
        <p:spPr bwMode="auto">
          <a:xfrm>
            <a:off x="8983890" y="365125"/>
            <a:ext cx="2987748" cy="3115429"/>
          </a:xfrm>
          <a:prstGeom prst="rect">
            <a:avLst/>
          </a:prstGeom>
          <a:noFill/>
          <a:ln w="9525">
            <a:noFill/>
            <a:miter lim="800000"/>
            <a:headEnd/>
            <a:tailEnd/>
          </a:ln>
        </p:spPr>
      </p:pic>
      <p:pic>
        <p:nvPicPr>
          <p:cNvPr id="6" name="Picture 2">
            <a:extLst>
              <a:ext uri="{FF2B5EF4-FFF2-40B4-BE49-F238E27FC236}">
                <a16:creationId xmlns:a16="http://schemas.microsoft.com/office/drawing/2014/main" id="{98B6C67B-4AB3-4F3D-E3AB-2AE18F1ECCB4}"/>
              </a:ext>
            </a:extLst>
          </p:cNvPr>
          <p:cNvPicPr>
            <a:picLocks noChangeAspect="1" noChangeArrowheads="1"/>
          </p:cNvPicPr>
          <p:nvPr/>
        </p:nvPicPr>
        <p:blipFill>
          <a:blip r:embed="rId3"/>
          <a:srcRect/>
          <a:stretch>
            <a:fillRect/>
          </a:stretch>
        </p:blipFill>
        <p:spPr bwMode="auto">
          <a:xfrm>
            <a:off x="0" y="1238250"/>
            <a:ext cx="3825949" cy="2798082"/>
          </a:xfrm>
          <a:prstGeom prst="rect">
            <a:avLst/>
          </a:prstGeom>
          <a:noFill/>
          <a:ln w="9525">
            <a:noFill/>
            <a:miter lim="800000"/>
            <a:headEnd/>
            <a:tailEnd/>
          </a:ln>
          <a:effectLst/>
        </p:spPr>
      </p:pic>
      <p:pic>
        <p:nvPicPr>
          <p:cNvPr id="8" name="Picture 7">
            <a:extLst>
              <a:ext uri="{FF2B5EF4-FFF2-40B4-BE49-F238E27FC236}">
                <a16:creationId xmlns:a16="http://schemas.microsoft.com/office/drawing/2014/main" id="{509F1BA8-4BEC-A4D0-79A3-E32E3BA96144}"/>
              </a:ext>
            </a:extLst>
          </p:cNvPr>
          <p:cNvPicPr>
            <a:picLocks noChangeAspect="1"/>
          </p:cNvPicPr>
          <p:nvPr/>
        </p:nvPicPr>
        <p:blipFill>
          <a:blip r:embed="rId4"/>
          <a:stretch>
            <a:fillRect/>
          </a:stretch>
        </p:blipFill>
        <p:spPr>
          <a:xfrm>
            <a:off x="4588475" y="3844390"/>
            <a:ext cx="6278905" cy="2060644"/>
          </a:xfrm>
          <a:prstGeom prst="rect">
            <a:avLst/>
          </a:prstGeom>
        </p:spPr>
      </p:pic>
    </p:spTree>
    <p:extLst>
      <p:ext uri="{BB962C8B-B14F-4D97-AF65-F5344CB8AC3E}">
        <p14:creationId xmlns:p14="http://schemas.microsoft.com/office/powerpoint/2010/main" val="1316147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A0CD7-EE0C-BDAF-0433-BF82EB8C182D}"/>
              </a:ext>
            </a:extLst>
          </p:cNvPr>
          <p:cNvSpPr>
            <a:spLocks noGrp="1"/>
          </p:cNvSpPr>
          <p:nvPr>
            <p:ph type="title"/>
          </p:nvPr>
        </p:nvSpPr>
        <p:spPr/>
        <p:txBody>
          <a:bodyPr/>
          <a:lstStyle/>
          <a:p>
            <a:r>
              <a:rPr lang="en-IE" dirty="0"/>
              <a:t>Merkle Tree</a:t>
            </a:r>
          </a:p>
        </p:txBody>
      </p:sp>
      <p:sp>
        <p:nvSpPr>
          <p:cNvPr id="3" name="Content Placeholder 2">
            <a:extLst>
              <a:ext uri="{FF2B5EF4-FFF2-40B4-BE49-F238E27FC236}">
                <a16:creationId xmlns:a16="http://schemas.microsoft.com/office/drawing/2014/main" id="{DB9C3D7E-B9BA-7DC1-80E2-6EBAABC2A006}"/>
              </a:ext>
            </a:extLst>
          </p:cNvPr>
          <p:cNvSpPr>
            <a:spLocks noGrp="1"/>
          </p:cNvSpPr>
          <p:nvPr>
            <p:ph idx="1"/>
          </p:nvPr>
        </p:nvSpPr>
        <p:spPr/>
        <p:txBody>
          <a:bodyPr>
            <a:normAutofit fontScale="55000" lnSpcReduction="20000"/>
          </a:bodyPr>
          <a:lstStyle/>
          <a:p>
            <a:r>
              <a:rPr lang="en-IE" sz="2800" dirty="0"/>
              <a:t>Each block in the Bitcoin blockchain contains a summary of all the </a:t>
            </a:r>
          </a:p>
          <a:p>
            <a:pPr>
              <a:buNone/>
            </a:pPr>
            <a:r>
              <a:rPr lang="en-IE" sz="2800" dirty="0"/>
              <a:t>	transactions in the block in the form of a Merkle tree. Also known as </a:t>
            </a:r>
          </a:p>
          <a:p>
            <a:pPr>
              <a:buNone/>
            </a:pPr>
            <a:r>
              <a:rPr lang="en-IE" sz="2800" dirty="0"/>
              <a:t>	a binary hash tree, it is a data structure used for efficiently </a:t>
            </a:r>
          </a:p>
          <a:p>
            <a:pPr>
              <a:buNone/>
            </a:pPr>
            <a:r>
              <a:rPr lang="en-IE" sz="2800" dirty="0"/>
              <a:t>	summarising and verifying the integrity of large datasets.</a:t>
            </a:r>
          </a:p>
          <a:p>
            <a:endParaRPr lang="en-IE" sz="2800" dirty="0"/>
          </a:p>
          <a:p>
            <a:r>
              <a:rPr lang="en-IE" sz="2800" dirty="0"/>
              <a:t>Double SHA-256 algorithm applied to tree to create the block hash, </a:t>
            </a:r>
          </a:p>
          <a:p>
            <a:pPr>
              <a:buNone/>
            </a:pPr>
            <a:r>
              <a:rPr lang="en-IE" sz="2800" dirty="0"/>
              <a:t>	which is the primary identifier of a block  which any node can </a:t>
            </a:r>
          </a:p>
          <a:p>
            <a:pPr>
              <a:buNone/>
            </a:pPr>
            <a:r>
              <a:rPr lang="en-IE" sz="2800" dirty="0"/>
              <a:t>	independently derive by simply hashing the block header.</a:t>
            </a:r>
          </a:p>
          <a:p>
            <a:endParaRPr lang="en-IE" sz="2800" dirty="0"/>
          </a:p>
          <a:p>
            <a:r>
              <a:rPr lang="en-IE" sz="2800" dirty="0"/>
              <a:t> The block height signals the position of the block in the chain. While </a:t>
            </a:r>
          </a:p>
          <a:p>
            <a:pPr>
              <a:buNone/>
            </a:pPr>
            <a:r>
              <a:rPr lang="en-IE" sz="2800" dirty="0"/>
              <a:t>	it is true that block hash will always uniquely identify a block, the </a:t>
            </a:r>
          </a:p>
          <a:p>
            <a:pPr>
              <a:buNone/>
            </a:pPr>
            <a:r>
              <a:rPr lang="en-IE" sz="2800" dirty="0"/>
              <a:t>	same isn’t true about block height.</a:t>
            </a:r>
          </a:p>
          <a:p>
            <a:endParaRPr lang="en-IE" sz="2800" dirty="0"/>
          </a:p>
          <a:p>
            <a:r>
              <a:rPr lang="en-IE" sz="2800" dirty="0"/>
              <a:t>Used extensively by SPV  (Simple Payment Verification) wallets such as Electrum who do not require you to download the full blockchain</a:t>
            </a:r>
          </a:p>
          <a:p>
            <a:endParaRPr lang="en-IE" dirty="0"/>
          </a:p>
        </p:txBody>
      </p:sp>
      <p:sp>
        <p:nvSpPr>
          <p:cNvPr id="4" name="Footer Placeholder 3">
            <a:extLst>
              <a:ext uri="{FF2B5EF4-FFF2-40B4-BE49-F238E27FC236}">
                <a16:creationId xmlns:a16="http://schemas.microsoft.com/office/drawing/2014/main" id="{7FFABBB2-089B-7D51-7E08-06250BFDA0B6}"/>
              </a:ext>
            </a:extLst>
          </p:cNvPr>
          <p:cNvSpPr>
            <a:spLocks noGrp="1"/>
          </p:cNvSpPr>
          <p:nvPr>
            <p:ph type="ftr" sz="quarter" idx="11"/>
          </p:nvPr>
        </p:nvSpPr>
        <p:spPr/>
        <p:txBody>
          <a:bodyPr/>
          <a:lstStyle/>
          <a:p>
            <a:r>
              <a:rPr lang="en-IE"/>
              <a:t>SHeeney23</a:t>
            </a:r>
          </a:p>
        </p:txBody>
      </p:sp>
      <p:pic>
        <p:nvPicPr>
          <p:cNvPr id="5" name="Picture 2">
            <a:extLst>
              <a:ext uri="{FF2B5EF4-FFF2-40B4-BE49-F238E27FC236}">
                <a16:creationId xmlns:a16="http://schemas.microsoft.com/office/drawing/2014/main" id="{1F4B16D9-9CBF-9D24-D5EA-B2D70F2C24AE}"/>
              </a:ext>
            </a:extLst>
          </p:cNvPr>
          <p:cNvPicPr>
            <a:picLocks noChangeAspect="1" noChangeArrowheads="1"/>
          </p:cNvPicPr>
          <p:nvPr/>
        </p:nvPicPr>
        <p:blipFill>
          <a:blip r:embed="rId2"/>
          <a:srcRect/>
          <a:stretch>
            <a:fillRect/>
          </a:stretch>
        </p:blipFill>
        <p:spPr bwMode="auto">
          <a:xfrm>
            <a:off x="6895070" y="291646"/>
            <a:ext cx="4760122" cy="3481283"/>
          </a:xfrm>
          <a:prstGeom prst="rect">
            <a:avLst/>
          </a:prstGeom>
          <a:noFill/>
          <a:ln w="9525">
            <a:noFill/>
            <a:miter lim="800000"/>
            <a:headEnd/>
            <a:tailEnd/>
          </a:ln>
          <a:effectLst/>
        </p:spPr>
      </p:pic>
    </p:spTree>
    <p:extLst>
      <p:ext uri="{BB962C8B-B14F-4D97-AF65-F5344CB8AC3E}">
        <p14:creationId xmlns:p14="http://schemas.microsoft.com/office/powerpoint/2010/main" val="4191159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F3ADB-E63A-B3B0-3D5D-D18F11101351}"/>
              </a:ext>
            </a:extLst>
          </p:cNvPr>
          <p:cNvSpPr>
            <a:spLocks noGrp="1"/>
          </p:cNvSpPr>
          <p:nvPr>
            <p:ph type="title"/>
          </p:nvPr>
        </p:nvSpPr>
        <p:spPr>
          <a:xfrm>
            <a:off x="838200" y="365125"/>
            <a:ext cx="3486665" cy="1325563"/>
          </a:xfrm>
        </p:spPr>
        <p:txBody>
          <a:bodyPr/>
          <a:lstStyle/>
          <a:p>
            <a:r>
              <a:rPr lang="en-IE" dirty="0"/>
              <a:t>Merkle Proof</a:t>
            </a:r>
          </a:p>
        </p:txBody>
      </p:sp>
      <p:sp>
        <p:nvSpPr>
          <p:cNvPr id="3" name="Content Placeholder 2">
            <a:extLst>
              <a:ext uri="{FF2B5EF4-FFF2-40B4-BE49-F238E27FC236}">
                <a16:creationId xmlns:a16="http://schemas.microsoft.com/office/drawing/2014/main" id="{8DA8719B-E702-B9D8-C7CC-1905F19C94DF}"/>
              </a:ext>
            </a:extLst>
          </p:cNvPr>
          <p:cNvSpPr>
            <a:spLocks noGrp="1"/>
          </p:cNvSpPr>
          <p:nvPr>
            <p:ph idx="1"/>
          </p:nvPr>
        </p:nvSpPr>
        <p:spPr/>
        <p:txBody>
          <a:bodyPr/>
          <a:lstStyle/>
          <a:p>
            <a:r>
              <a:rPr lang="en-IE" dirty="0"/>
              <a:t>Ralph Merkle</a:t>
            </a:r>
          </a:p>
          <a:p>
            <a:r>
              <a:rPr lang="en-IE" dirty="0"/>
              <a:t>Patented the Merkle Tree in 1979</a:t>
            </a:r>
          </a:p>
          <a:p>
            <a:r>
              <a:rPr lang="en-IE" dirty="0"/>
              <a:t>The Top Hash called the Merkle Root</a:t>
            </a:r>
          </a:p>
          <a:p>
            <a:r>
              <a:rPr lang="en-IE" dirty="0"/>
              <a:t>Merkle Trees can be used to provide </a:t>
            </a:r>
          </a:p>
          <a:p>
            <a:pPr lvl="1"/>
            <a:r>
              <a:rPr lang="en-IE" dirty="0"/>
              <a:t>Merkle Proofs</a:t>
            </a:r>
          </a:p>
          <a:p>
            <a:pPr lvl="1"/>
            <a:r>
              <a:rPr lang="en-IE" dirty="0"/>
              <a:t>Proof that a piece of data is part of the </a:t>
            </a:r>
          </a:p>
          <a:p>
            <a:pPr marL="457200" lvl="1" indent="0">
              <a:buNone/>
            </a:pPr>
            <a:r>
              <a:rPr lang="en-IE" dirty="0"/>
              <a:t>Data set represented by the Merkle Proof</a:t>
            </a:r>
          </a:p>
        </p:txBody>
      </p:sp>
      <p:sp>
        <p:nvSpPr>
          <p:cNvPr id="4" name="Footer Placeholder 3">
            <a:extLst>
              <a:ext uri="{FF2B5EF4-FFF2-40B4-BE49-F238E27FC236}">
                <a16:creationId xmlns:a16="http://schemas.microsoft.com/office/drawing/2014/main" id="{89C8114E-E40C-D3EA-BA0F-5F18E47DC2E1}"/>
              </a:ext>
            </a:extLst>
          </p:cNvPr>
          <p:cNvSpPr>
            <a:spLocks noGrp="1"/>
          </p:cNvSpPr>
          <p:nvPr>
            <p:ph type="ftr" sz="quarter" idx="11"/>
          </p:nvPr>
        </p:nvSpPr>
        <p:spPr/>
        <p:txBody>
          <a:bodyPr/>
          <a:lstStyle/>
          <a:p>
            <a:r>
              <a:rPr lang="en-IE"/>
              <a:t>SHeeney23</a:t>
            </a:r>
          </a:p>
        </p:txBody>
      </p:sp>
      <p:pic>
        <p:nvPicPr>
          <p:cNvPr id="8" name="Picture 7">
            <a:extLst>
              <a:ext uri="{FF2B5EF4-FFF2-40B4-BE49-F238E27FC236}">
                <a16:creationId xmlns:a16="http://schemas.microsoft.com/office/drawing/2014/main" id="{0E342990-F238-E4F6-5F7B-C1C3580B2858}"/>
              </a:ext>
            </a:extLst>
          </p:cNvPr>
          <p:cNvPicPr>
            <a:picLocks noChangeAspect="1"/>
          </p:cNvPicPr>
          <p:nvPr/>
        </p:nvPicPr>
        <p:blipFill>
          <a:blip r:embed="rId2"/>
          <a:stretch>
            <a:fillRect/>
          </a:stretch>
        </p:blipFill>
        <p:spPr>
          <a:xfrm>
            <a:off x="7277100" y="2159386"/>
            <a:ext cx="4914900" cy="3533775"/>
          </a:xfrm>
          <a:prstGeom prst="rect">
            <a:avLst/>
          </a:prstGeom>
        </p:spPr>
      </p:pic>
    </p:spTree>
    <p:extLst>
      <p:ext uri="{BB962C8B-B14F-4D97-AF65-F5344CB8AC3E}">
        <p14:creationId xmlns:p14="http://schemas.microsoft.com/office/powerpoint/2010/main" val="2131131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765E-3B8D-5DA3-B713-B933387E9D4D}"/>
              </a:ext>
            </a:extLst>
          </p:cNvPr>
          <p:cNvSpPr>
            <a:spLocks noGrp="1"/>
          </p:cNvSpPr>
          <p:nvPr>
            <p:ph type="title"/>
          </p:nvPr>
        </p:nvSpPr>
        <p:spPr/>
        <p:txBody>
          <a:bodyPr/>
          <a:lstStyle/>
          <a:p>
            <a:r>
              <a:rPr lang="en-IE" dirty="0"/>
              <a:t>Immutability</a:t>
            </a:r>
          </a:p>
        </p:txBody>
      </p:sp>
      <p:sp>
        <p:nvSpPr>
          <p:cNvPr id="3" name="Content Placeholder 2">
            <a:extLst>
              <a:ext uri="{FF2B5EF4-FFF2-40B4-BE49-F238E27FC236}">
                <a16:creationId xmlns:a16="http://schemas.microsoft.com/office/drawing/2014/main" id="{8F482976-E6AD-4C1D-783D-C0FFF54B48F2}"/>
              </a:ext>
            </a:extLst>
          </p:cNvPr>
          <p:cNvSpPr>
            <a:spLocks noGrp="1"/>
          </p:cNvSpPr>
          <p:nvPr>
            <p:ph idx="1"/>
          </p:nvPr>
        </p:nvSpPr>
        <p:spPr>
          <a:xfrm>
            <a:off x="656968" y="1372544"/>
            <a:ext cx="10515600" cy="4351338"/>
          </a:xfrm>
        </p:spPr>
        <p:txBody>
          <a:bodyPr/>
          <a:lstStyle/>
          <a:p>
            <a:r>
              <a:rPr lang="en-IE" dirty="0"/>
              <a:t>Anders Blockchain Example</a:t>
            </a:r>
          </a:p>
        </p:txBody>
      </p:sp>
      <p:sp>
        <p:nvSpPr>
          <p:cNvPr id="4" name="Footer Placeholder 3">
            <a:extLst>
              <a:ext uri="{FF2B5EF4-FFF2-40B4-BE49-F238E27FC236}">
                <a16:creationId xmlns:a16="http://schemas.microsoft.com/office/drawing/2014/main" id="{6506232B-2EF6-466B-8A5B-3060A9E7EE51}"/>
              </a:ext>
            </a:extLst>
          </p:cNvPr>
          <p:cNvSpPr>
            <a:spLocks noGrp="1"/>
          </p:cNvSpPr>
          <p:nvPr>
            <p:ph type="ftr" sz="quarter" idx="11"/>
          </p:nvPr>
        </p:nvSpPr>
        <p:spPr/>
        <p:txBody>
          <a:bodyPr/>
          <a:lstStyle/>
          <a:p>
            <a:r>
              <a:rPr lang="en-IE"/>
              <a:t>SHeeney23</a:t>
            </a:r>
          </a:p>
        </p:txBody>
      </p:sp>
      <p:pic>
        <p:nvPicPr>
          <p:cNvPr id="5" name="Picture 4">
            <a:extLst>
              <a:ext uri="{FF2B5EF4-FFF2-40B4-BE49-F238E27FC236}">
                <a16:creationId xmlns:a16="http://schemas.microsoft.com/office/drawing/2014/main" id="{5737B67C-16EB-E34C-973A-33B344EDFF91}"/>
              </a:ext>
            </a:extLst>
          </p:cNvPr>
          <p:cNvPicPr>
            <a:picLocks noChangeAspect="1"/>
          </p:cNvPicPr>
          <p:nvPr/>
        </p:nvPicPr>
        <p:blipFill>
          <a:blip r:embed="rId2"/>
          <a:stretch>
            <a:fillRect/>
          </a:stretch>
        </p:blipFill>
        <p:spPr>
          <a:xfrm>
            <a:off x="5000368" y="740076"/>
            <a:ext cx="6952735" cy="4956404"/>
          </a:xfrm>
          <a:prstGeom prst="rect">
            <a:avLst/>
          </a:prstGeom>
        </p:spPr>
      </p:pic>
    </p:spTree>
    <p:extLst>
      <p:ext uri="{BB962C8B-B14F-4D97-AF65-F5344CB8AC3E}">
        <p14:creationId xmlns:p14="http://schemas.microsoft.com/office/powerpoint/2010/main" val="2367715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E0981-1AA8-B043-F434-D4517471621A}"/>
              </a:ext>
            </a:extLst>
          </p:cNvPr>
          <p:cNvSpPr>
            <a:spLocks noGrp="1"/>
          </p:cNvSpPr>
          <p:nvPr>
            <p:ph type="title"/>
          </p:nvPr>
        </p:nvSpPr>
        <p:spPr/>
        <p:txBody>
          <a:bodyPr/>
          <a:lstStyle/>
          <a:p>
            <a:r>
              <a:rPr lang="en-IE" dirty="0"/>
              <a:t>Difficulty in BTC 	</a:t>
            </a:r>
          </a:p>
        </p:txBody>
      </p:sp>
      <p:sp>
        <p:nvSpPr>
          <p:cNvPr id="3" name="Content Placeholder 2">
            <a:extLst>
              <a:ext uri="{FF2B5EF4-FFF2-40B4-BE49-F238E27FC236}">
                <a16:creationId xmlns:a16="http://schemas.microsoft.com/office/drawing/2014/main" id="{6CC87373-2FC1-2D38-78DC-CAF4DFA8B899}"/>
              </a:ext>
            </a:extLst>
          </p:cNvPr>
          <p:cNvSpPr>
            <a:spLocks noGrp="1"/>
          </p:cNvSpPr>
          <p:nvPr>
            <p:ph idx="1"/>
          </p:nvPr>
        </p:nvSpPr>
        <p:spPr/>
        <p:txBody>
          <a:bodyPr/>
          <a:lstStyle/>
          <a:p>
            <a:r>
              <a:rPr lang="en-IE" dirty="0"/>
              <a:t>Difficulty is adjusted every 2016 Blocks (2 Weeks) </a:t>
            </a:r>
          </a:p>
          <a:p>
            <a:r>
              <a:rPr lang="en-IE" dirty="0"/>
              <a:t>Difficulty is intended to keep the Block interval at about 10 Mins</a:t>
            </a:r>
          </a:p>
          <a:p>
            <a:r>
              <a:rPr lang="en-IE" dirty="0"/>
              <a:t>A Valid Block has a hash value which is lower that the target difficulty</a:t>
            </a:r>
          </a:p>
        </p:txBody>
      </p:sp>
      <p:sp>
        <p:nvSpPr>
          <p:cNvPr id="4" name="Footer Placeholder 3">
            <a:extLst>
              <a:ext uri="{FF2B5EF4-FFF2-40B4-BE49-F238E27FC236}">
                <a16:creationId xmlns:a16="http://schemas.microsoft.com/office/drawing/2014/main" id="{22B2872F-952E-5681-73BF-4613A7EA962F}"/>
              </a:ext>
            </a:extLst>
          </p:cNvPr>
          <p:cNvSpPr>
            <a:spLocks noGrp="1"/>
          </p:cNvSpPr>
          <p:nvPr>
            <p:ph type="ftr" sz="quarter" idx="11"/>
          </p:nvPr>
        </p:nvSpPr>
        <p:spPr/>
        <p:txBody>
          <a:bodyPr/>
          <a:lstStyle/>
          <a:p>
            <a:r>
              <a:rPr lang="en-IE"/>
              <a:t>SHeeney23</a:t>
            </a:r>
          </a:p>
        </p:txBody>
      </p:sp>
      <p:pic>
        <p:nvPicPr>
          <p:cNvPr id="6" name="Picture 5">
            <a:extLst>
              <a:ext uri="{FF2B5EF4-FFF2-40B4-BE49-F238E27FC236}">
                <a16:creationId xmlns:a16="http://schemas.microsoft.com/office/drawing/2014/main" id="{F19EF84F-69C6-BD54-04FD-8A9813674252}"/>
              </a:ext>
            </a:extLst>
          </p:cNvPr>
          <p:cNvPicPr>
            <a:picLocks noChangeAspect="1"/>
          </p:cNvPicPr>
          <p:nvPr/>
        </p:nvPicPr>
        <p:blipFill>
          <a:blip r:embed="rId2"/>
          <a:stretch>
            <a:fillRect/>
          </a:stretch>
        </p:blipFill>
        <p:spPr>
          <a:xfrm>
            <a:off x="3524250" y="3696494"/>
            <a:ext cx="5143500" cy="304800"/>
          </a:xfrm>
          <a:prstGeom prst="rect">
            <a:avLst/>
          </a:prstGeom>
        </p:spPr>
      </p:pic>
    </p:spTree>
    <p:extLst>
      <p:ext uri="{BB962C8B-B14F-4D97-AF65-F5344CB8AC3E}">
        <p14:creationId xmlns:p14="http://schemas.microsoft.com/office/powerpoint/2010/main" val="3805725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3E00C-4C65-45B5-75DE-648876B686FA}"/>
              </a:ext>
            </a:extLst>
          </p:cNvPr>
          <p:cNvSpPr>
            <a:spLocks noGrp="1"/>
          </p:cNvSpPr>
          <p:nvPr>
            <p:ph type="title"/>
          </p:nvPr>
        </p:nvSpPr>
        <p:spPr/>
        <p:txBody>
          <a:bodyPr/>
          <a:lstStyle/>
          <a:p>
            <a:r>
              <a:rPr lang="en-IE" dirty="0"/>
              <a:t>POW Proof of Work </a:t>
            </a:r>
          </a:p>
        </p:txBody>
      </p:sp>
      <p:sp>
        <p:nvSpPr>
          <p:cNvPr id="3" name="Content Placeholder 2">
            <a:extLst>
              <a:ext uri="{FF2B5EF4-FFF2-40B4-BE49-F238E27FC236}">
                <a16:creationId xmlns:a16="http://schemas.microsoft.com/office/drawing/2014/main" id="{E683B801-D29F-F50F-9925-6687881E2ABE}"/>
              </a:ext>
            </a:extLst>
          </p:cNvPr>
          <p:cNvSpPr>
            <a:spLocks noGrp="1"/>
          </p:cNvSpPr>
          <p:nvPr>
            <p:ph idx="1"/>
          </p:nvPr>
        </p:nvSpPr>
        <p:spPr/>
        <p:txBody>
          <a:bodyPr>
            <a:normAutofit fontScale="92500" lnSpcReduction="20000"/>
          </a:bodyPr>
          <a:lstStyle/>
          <a:p>
            <a:r>
              <a:rPr lang="en-IE" dirty="0"/>
              <a:t>How does it provided Immutability ? </a:t>
            </a:r>
          </a:p>
          <a:p>
            <a:r>
              <a:rPr lang="en-IE" dirty="0"/>
              <a:t>How does the Block Hash provide the work has been completed ? </a:t>
            </a:r>
          </a:p>
          <a:p>
            <a:endParaRPr lang="en-IE" dirty="0"/>
          </a:p>
          <a:p>
            <a:r>
              <a:rPr lang="en-IE" dirty="0"/>
              <a:t>Why is 51% an important figure ? </a:t>
            </a:r>
          </a:p>
          <a:p>
            <a:endParaRPr lang="en-IE" dirty="0"/>
          </a:p>
          <a:p>
            <a:r>
              <a:rPr lang="en-IE" dirty="0"/>
              <a:t>Example :: </a:t>
            </a:r>
          </a:p>
          <a:p>
            <a:pPr lvl="1"/>
            <a:r>
              <a:rPr lang="en-IE" dirty="0"/>
              <a:t>Bitcoin Network Hash Rate: 138 000 000 000 000 000 000 H/s</a:t>
            </a:r>
          </a:p>
          <a:p>
            <a:pPr lvl="1"/>
            <a:r>
              <a:rPr lang="en-IE" dirty="0"/>
              <a:t>Assume 10c kWh cost</a:t>
            </a:r>
          </a:p>
          <a:p>
            <a:pPr lvl="1"/>
            <a:r>
              <a:rPr lang="en-IE" dirty="0" err="1"/>
              <a:t>Antminer</a:t>
            </a:r>
            <a:r>
              <a:rPr lang="en-IE" dirty="0"/>
              <a:t> S9</a:t>
            </a:r>
          </a:p>
          <a:p>
            <a:pPr lvl="2"/>
            <a:r>
              <a:rPr lang="en-IE" dirty="0"/>
              <a:t>14 THs</a:t>
            </a:r>
          </a:p>
          <a:p>
            <a:pPr lvl="2"/>
            <a:r>
              <a:rPr lang="en-IE" dirty="0"/>
              <a:t>1372W Power Consumption</a:t>
            </a:r>
          </a:p>
          <a:p>
            <a:pPr lvl="2"/>
            <a:r>
              <a:rPr lang="en-IE" dirty="0"/>
              <a:t>$1700 ex VAT</a:t>
            </a:r>
          </a:p>
        </p:txBody>
      </p:sp>
      <p:sp>
        <p:nvSpPr>
          <p:cNvPr id="4" name="Footer Placeholder 3">
            <a:extLst>
              <a:ext uri="{FF2B5EF4-FFF2-40B4-BE49-F238E27FC236}">
                <a16:creationId xmlns:a16="http://schemas.microsoft.com/office/drawing/2014/main" id="{20578352-BBD9-D964-E73B-7A14EF8C0B45}"/>
              </a:ext>
            </a:extLst>
          </p:cNvPr>
          <p:cNvSpPr>
            <a:spLocks noGrp="1"/>
          </p:cNvSpPr>
          <p:nvPr>
            <p:ph type="ftr" sz="quarter" idx="11"/>
          </p:nvPr>
        </p:nvSpPr>
        <p:spPr/>
        <p:txBody>
          <a:bodyPr/>
          <a:lstStyle/>
          <a:p>
            <a:r>
              <a:rPr lang="en-IE"/>
              <a:t>SHeeney23</a:t>
            </a:r>
          </a:p>
        </p:txBody>
      </p:sp>
    </p:spTree>
    <p:extLst>
      <p:ext uri="{BB962C8B-B14F-4D97-AF65-F5344CB8AC3E}">
        <p14:creationId xmlns:p14="http://schemas.microsoft.com/office/powerpoint/2010/main" val="2285483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22DEC7D-0269-90E9-BAA9-6DF5C152F0A5}"/>
              </a:ext>
            </a:extLst>
          </p:cNvPr>
          <p:cNvSpPr>
            <a:spLocks noGrp="1"/>
          </p:cNvSpPr>
          <p:nvPr>
            <p:ph type="ftr" sz="quarter" idx="11"/>
          </p:nvPr>
        </p:nvSpPr>
        <p:spPr/>
        <p:txBody>
          <a:bodyPr/>
          <a:lstStyle/>
          <a:p>
            <a:r>
              <a:rPr lang="en-IE"/>
              <a:t>SHeeney23</a:t>
            </a:r>
          </a:p>
        </p:txBody>
      </p:sp>
      <p:pic>
        <p:nvPicPr>
          <p:cNvPr id="6" name="Picture 5">
            <a:extLst>
              <a:ext uri="{FF2B5EF4-FFF2-40B4-BE49-F238E27FC236}">
                <a16:creationId xmlns:a16="http://schemas.microsoft.com/office/drawing/2014/main" id="{1C7A5552-CEA3-E55C-6344-3731FD2D2436}"/>
              </a:ext>
            </a:extLst>
          </p:cNvPr>
          <p:cNvPicPr>
            <a:picLocks noChangeAspect="1"/>
          </p:cNvPicPr>
          <p:nvPr/>
        </p:nvPicPr>
        <p:blipFill>
          <a:blip r:embed="rId2"/>
          <a:stretch>
            <a:fillRect/>
          </a:stretch>
        </p:blipFill>
        <p:spPr>
          <a:xfrm>
            <a:off x="0" y="1"/>
            <a:ext cx="6268673" cy="3524264"/>
          </a:xfrm>
          <a:prstGeom prst="rect">
            <a:avLst/>
          </a:prstGeom>
        </p:spPr>
      </p:pic>
      <p:pic>
        <p:nvPicPr>
          <p:cNvPr id="8" name="Picture 7">
            <a:extLst>
              <a:ext uri="{FF2B5EF4-FFF2-40B4-BE49-F238E27FC236}">
                <a16:creationId xmlns:a16="http://schemas.microsoft.com/office/drawing/2014/main" id="{7F0E68E3-DE9D-9FB4-57BB-512BEB8EE97F}"/>
              </a:ext>
            </a:extLst>
          </p:cNvPr>
          <p:cNvPicPr>
            <a:picLocks noChangeAspect="1"/>
          </p:cNvPicPr>
          <p:nvPr/>
        </p:nvPicPr>
        <p:blipFill>
          <a:blip r:embed="rId3"/>
          <a:stretch>
            <a:fillRect/>
          </a:stretch>
        </p:blipFill>
        <p:spPr>
          <a:xfrm>
            <a:off x="6516130" y="3333737"/>
            <a:ext cx="5675870" cy="3524264"/>
          </a:xfrm>
          <a:prstGeom prst="rect">
            <a:avLst/>
          </a:prstGeom>
        </p:spPr>
      </p:pic>
      <p:sp>
        <p:nvSpPr>
          <p:cNvPr id="10" name="TextBox 9">
            <a:extLst>
              <a:ext uri="{FF2B5EF4-FFF2-40B4-BE49-F238E27FC236}">
                <a16:creationId xmlns:a16="http://schemas.microsoft.com/office/drawing/2014/main" id="{D5164EA0-66C2-3364-7441-38705FC1E6E0}"/>
              </a:ext>
            </a:extLst>
          </p:cNvPr>
          <p:cNvSpPr txBox="1"/>
          <p:nvPr/>
        </p:nvSpPr>
        <p:spPr>
          <a:xfrm>
            <a:off x="0" y="4198712"/>
            <a:ext cx="5923005" cy="646331"/>
          </a:xfrm>
          <a:prstGeom prst="rect">
            <a:avLst/>
          </a:prstGeom>
          <a:noFill/>
        </p:spPr>
        <p:txBody>
          <a:bodyPr wrap="square">
            <a:spAutoFit/>
          </a:bodyPr>
          <a:lstStyle/>
          <a:p>
            <a:r>
              <a:rPr lang="en-IE" dirty="0">
                <a:hlinkClick r:id="rId4"/>
              </a:rPr>
              <a:t>https://www.asicminervalue.com/miners/bitmain/antminer-s9-13-5th</a:t>
            </a:r>
            <a:r>
              <a:rPr lang="en-IE" dirty="0"/>
              <a:t> </a:t>
            </a:r>
          </a:p>
        </p:txBody>
      </p:sp>
      <p:sp>
        <p:nvSpPr>
          <p:cNvPr id="12" name="TextBox 11">
            <a:extLst>
              <a:ext uri="{FF2B5EF4-FFF2-40B4-BE49-F238E27FC236}">
                <a16:creationId xmlns:a16="http://schemas.microsoft.com/office/drawing/2014/main" id="{3CFA1D00-5DF5-BF78-5F0B-FAE5F3AB8CC1}"/>
              </a:ext>
            </a:extLst>
          </p:cNvPr>
          <p:cNvSpPr txBox="1"/>
          <p:nvPr/>
        </p:nvSpPr>
        <p:spPr>
          <a:xfrm>
            <a:off x="6586152" y="297247"/>
            <a:ext cx="4872680" cy="369332"/>
          </a:xfrm>
          <a:prstGeom prst="rect">
            <a:avLst/>
          </a:prstGeom>
          <a:noFill/>
        </p:spPr>
        <p:txBody>
          <a:bodyPr wrap="square">
            <a:spAutoFit/>
          </a:bodyPr>
          <a:lstStyle/>
          <a:p>
            <a:r>
              <a:rPr lang="en-IE" dirty="0">
                <a:hlinkClick r:id="rId5"/>
              </a:rPr>
              <a:t>https://www.asicminervalue.com/</a:t>
            </a:r>
            <a:r>
              <a:rPr lang="en-IE" dirty="0"/>
              <a:t> </a:t>
            </a:r>
          </a:p>
        </p:txBody>
      </p:sp>
      <p:sp>
        <p:nvSpPr>
          <p:cNvPr id="14" name="TextBox 13">
            <a:extLst>
              <a:ext uri="{FF2B5EF4-FFF2-40B4-BE49-F238E27FC236}">
                <a16:creationId xmlns:a16="http://schemas.microsoft.com/office/drawing/2014/main" id="{E140D89E-BF30-BAC6-FA49-F97824EA3DAD}"/>
              </a:ext>
            </a:extLst>
          </p:cNvPr>
          <p:cNvSpPr txBox="1"/>
          <p:nvPr/>
        </p:nvSpPr>
        <p:spPr>
          <a:xfrm>
            <a:off x="6516130" y="890371"/>
            <a:ext cx="4872680" cy="369332"/>
          </a:xfrm>
          <a:prstGeom prst="rect">
            <a:avLst/>
          </a:prstGeom>
          <a:noFill/>
        </p:spPr>
        <p:txBody>
          <a:bodyPr wrap="square">
            <a:spAutoFit/>
          </a:bodyPr>
          <a:lstStyle/>
          <a:p>
            <a:r>
              <a:rPr lang="en-IE" dirty="0">
                <a:hlinkClick r:id="rId6"/>
              </a:rPr>
              <a:t>https://btc.com/stats/pool</a:t>
            </a:r>
            <a:r>
              <a:rPr lang="en-IE" dirty="0"/>
              <a:t> </a:t>
            </a:r>
          </a:p>
        </p:txBody>
      </p:sp>
      <p:pic>
        <p:nvPicPr>
          <p:cNvPr id="16" name="Picture 15">
            <a:extLst>
              <a:ext uri="{FF2B5EF4-FFF2-40B4-BE49-F238E27FC236}">
                <a16:creationId xmlns:a16="http://schemas.microsoft.com/office/drawing/2014/main" id="{54D36571-DD45-40D5-D832-8E28DFCE4518}"/>
              </a:ext>
            </a:extLst>
          </p:cNvPr>
          <p:cNvPicPr>
            <a:picLocks noChangeAspect="1"/>
          </p:cNvPicPr>
          <p:nvPr/>
        </p:nvPicPr>
        <p:blipFill>
          <a:blip r:embed="rId7"/>
          <a:stretch>
            <a:fillRect/>
          </a:stretch>
        </p:blipFill>
        <p:spPr>
          <a:xfrm>
            <a:off x="8751930" y="1332880"/>
            <a:ext cx="3440070" cy="2000857"/>
          </a:xfrm>
          <a:prstGeom prst="rect">
            <a:avLst/>
          </a:prstGeom>
        </p:spPr>
      </p:pic>
    </p:spTree>
    <p:extLst>
      <p:ext uri="{BB962C8B-B14F-4D97-AF65-F5344CB8AC3E}">
        <p14:creationId xmlns:p14="http://schemas.microsoft.com/office/powerpoint/2010/main" val="921451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62E4B-6658-00E5-F0DE-806306DC1E96}"/>
              </a:ext>
            </a:extLst>
          </p:cNvPr>
          <p:cNvSpPr>
            <a:spLocks noGrp="1"/>
          </p:cNvSpPr>
          <p:nvPr>
            <p:ph type="title"/>
          </p:nvPr>
        </p:nvSpPr>
        <p:spPr>
          <a:xfrm>
            <a:off x="838200" y="365125"/>
            <a:ext cx="10515600" cy="704849"/>
          </a:xfrm>
        </p:spPr>
        <p:txBody>
          <a:bodyPr/>
          <a:lstStyle/>
          <a:p>
            <a:pPr algn="ctr"/>
            <a:r>
              <a:rPr lang="en-IE" dirty="0"/>
              <a:t>Byzantine Fault Tolerance</a:t>
            </a:r>
          </a:p>
        </p:txBody>
      </p:sp>
      <p:sp>
        <p:nvSpPr>
          <p:cNvPr id="4" name="Footer Placeholder 3">
            <a:extLst>
              <a:ext uri="{FF2B5EF4-FFF2-40B4-BE49-F238E27FC236}">
                <a16:creationId xmlns:a16="http://schemas.microsoft.com/office/drawing/2014/main" id="{4D75504A-740F-7818-C4B0-CFCB52E315FA}"/>
              </a:ext>
            </a:extLst>
          </p:cNvPr>
          <p:cNvSpPr>
            <a:spLocks noGrp="1"/>
          </p:cNvSpPr>
          <p:nvPr>
            <p:ph type="ftr" sz="quarter" idx="11"/>
          </p:nvPr>
        </p:nvSpPr>
        <p:spPr/>
        <p:txBody>
          <a:bodyPr/>
          <a:lstStyle/>
          <a:p>
            <a:r>
              <a:rPr lang="en-IE"/>
              <a:t>SHeeney23</a:t>
            </a:r>
          </a:p>
        </p:txBody>
      </p:sp>
      <p:pic>
        <p:nvPicPr>
          <p:cNvPr id="6" name="Picture 5">
            <a:extLst>
              <a:ext uri="{FF2B5EF4-FFF2-40B4-BE49-F238E27FC236}">
                <a16:creationId xmlns:a16="http://schemas.microsoft.com/office/drawing/2014/main" id="{3A6E68DD-B755-9936-7591-45ED33C99BE7}"/>
              </a:ext>
            </a:extLst>
          </p:cNvPr>
          <p:cNvPicPr>
            <a:picLocks noChangeAspect="1"/>
          </p:cNvPicPr>
          <p:nvPr/>
        </p:nvPicPr>
        <p:blipFill>
          <a:blip r:embed="rId3"/>
          <a:stretch>
            <a:fillRect/>
          </a:stretch>
        </p:blipFill>
        <p:spPr>
          <a:xfrm>
            <a:off x="0" y="1252537"/>
            <a:ext cx="8658225" cy="5286375"/>
          </a:xfrm>
          <a:prstGeom prst="rect">
            <a:avLst/>
          </a:prstGeom>
        </p:spPr>
      </p:pic>
      <p:pic>
        <p:nvPicPr>
          <p:cNvPr id="8" name="Picture 7">
            <a:extLst>
              <a:ext uri="{FF2B5EF4-FFF2-40B4-BE49-F238E27FC236}">
                <a16:creationId xmlns:a16="http://schemas.microsoft.com/office/drawing/2014/main" id="{AC0F2243-FF42-6D71-A8C4-B424EF4F840A}"/>
              </a:ext>
            </a:extLst>
          </p:cNvPr>
          <p:cNvPicPr>
            <a:picLocks noChangeAspect="1"/>
          </p:cNvPicPr>
          <p:nvPr/>
        </p:nvPicPr>
        <p:blipFill>
          <a:blip r:embed="rId4"/>
          <a:stretch>
            <a:fillRect/>
          </a:stretch>
        </p:blipFill>
        <p:spPr>
          <a:xfrm>
            <a:off x="9082887" y="1178011"/>
            <a:ext cx="3033597" cy="5178339"/>
          </a:xfrm>
          <a:prstGeom prst="rect">
            <a:avLst/>
          </a:prstGeom>
        </p:spPr>
      </p:pic>
      <p:sp>
        <p:nvSpPr>
          <p:cNvPr id="10" name="TextBox 9">
            <a:extLst>
              <a:ext uri="{FF2B5EF4-FFF2-40B4-BE49-F238E27FC236}">
                <a16:creationId xmlns:a16="http://schemas.microsoft.com/office/drawing/2014/main" id="{7AA401F3-0FEA-F425-5D69-2227DFB6DBEF}"/>
              </a:ext>
            </a:extLst>
          </p:cNvPr>
          <p:cNvSpPr txBox="1"/>
          <p:nvPr/>
        </p:nvSpPr>
        <p:spPr>
          <a:xfrm>
            <a:off x="9144000" y="6380675"/>
            <a:ext cx="2777067" cy="369332"/>
          </a:xfrm>
          <a:prstGeom prst="rect">
            <a:avLst/>
          </a:prstGeom>
          <a:noFill/>
        </p:spPr>
        <p:txBody>
          <a:bodyPr wrap="square">
            <a:spAutoFit/>
          </a:bodyPr>
          <a:lstStyle/>
          <a:p>
            <a:r>
              <a:rPr lang="en-IE" dirty="0"/>
              <a:t>The Fall of Constantinople</a:t>
            </a:r>
          </a:p>
        </p:txBody>
      </p:sp>
    </p:spTree>
    <p:extLst>
      <p:ext uri="{BB962C8B-B14F-4D97-AF65-F5344CB8AC3E}">
        <p14:creationId xmlns:p14="http://schemas.microsoft.com/office/powerpoint/2010/main" val="3033817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E5BE2-809A-25A8-CE9B-A7F7B6EF5940}"/>
              </a:ext>
            </a:extLst>
          </p:cNvPr>
          <p:cNvSpPr>
            <a:spLocks noGrp="1"/>
          </p:cNvSpPr>
          <p:nvPr>
            <p:ph type="title"/>
          </p:nvPr>
        </p:nvSpPr>
        <p:spPr/>
        <p:txBody>
          <a:bodyPr/>
          <a:lstStyle/>
          <a:p>
            <a:r>
              <a:rPr lang="en-IE" dirty="0"/>
              <a:t>The Byzantine Generals </a:t>
            </a:r>
            <a:br>
              <a:rPr lang="en-IE" dirty="0"/>
            </a:br>
            <a:r>
              <a:rPr lang="en-IE" dirty="0"/>
              <a:t>Problem</a:t>
            </a:r>
          </a:p>
        </p:txBody>
      </p:sp>
      <p:sp>
        <p:nvSpPr>
          <p:cNvPr id="3" name="Content Placeholder 2">
            <a:extLst>
              <a:ext uri="{FF2B5EF4-FFF2-40B4-BE49-F238E27FC236}">
                <a16:creationId xmlns:a16="http://schemas.microsoft.com/office/drawing/2014/main" id="{DCE8DC05-46AF-0D2D-FE53-7016E39075BC}"/>
              </a:ext>
            </a:extLst>
          </p:cNvPr>
          <p:cNvSpPr>
            <a:spLocks noGrp="1"/>
          </p:cNvSpPr>
          <p:nvPr>
            <p:ph idx="1"/>
          </p:nvPr>
        </p:nvSpPr>
        <p:spPr/>
        <p:txBody>
          <a:bodyPr/>
          <a:lstStyle/>
          <a:p>
            <a:r>
              <a:rPr lang="en-IE" dirty="0" err="1"/>
              <a:t>Lamport</a:t>
            </a:r>
            <a:r>
              <a:rPr lang="en-IE" dirty="0"/>
              <a:t> , </a:t>
            </a:r>
            <a:r>
              <a:rPr lang="en-IE" dirty="0" err="1"/>
              <a:t>Shostak</a:t>
            </a:r>
            <a:r>
              <a:rPr lang="en-IE" dirty="0"/>
              <a:t>, Pease (1982) </a:t>
            </a:r>
          </a:p>
          <a:p>
            <a:r>
              <a:rPr lang="en-IE" dirty="0"/>
              <a:t>All Generals Must Co-Ordinate the attack</a:t>
            </a:r>
          </a:p>
          <a:p>
            <a:r>
              <a:rPr lang="en-IE" dirty="0"/>
              <a:t>Attacks are co-ordinated by messengers</a:t>
            </a:r>
          </a:p>
          <a:p>
            <a:r>
              <a:rPr lang="en-IE" dirty="0"/>
              <a:t>Messengers must travel through enemy territory</a:t>
            </a:r>
          </a:p>
          <a:p>
            <a:r>
              <a:rPr lang="en-IE" dirty="0"/>
              <a:t>Messengers can forge messages</a:t>
            </a:r>
          </a:p>
          <a:p>
            <a:r>
              <a:rPr lang="en-IE" dirty="0"/>
              <a:t>Generals can send multiple messengers</a:t>
            </a:r>
          </a:p>
          <a:p>
            <a:r>
              <a:rPr lang="en-IE" dirty="0"/>
              <a:t>An uncoordinated attack will fail</a:t>
            </a:r>
          </a:p>
        </p:txBody>
      </p:sp>
      <p:sp>
        <p:nvSpPr>
          <p:cNvPr id="4" name="Footer Placeholder 3">
            <a:extLst>
              <a:ext uri="{FF2B5EF4-FFF2-40B4-BE49-F238E27FC236}">
                <a16:creationId xmlns:a16="http://schemas.microsoft.com/office/drawing/2014/main" id="{BCC8661F-1535-DFF1-9F27-F2CD23D3D214}"/>
              </a:ext>
            </a:extLst>
          </p:cNvPr>
          <p:cNvSpPr>
            <a:spLocks noGrp="1"/>
          </p:cNvSpPr>
          <p:nvPr>
            <p:ph type="ftr" sz="quarter" idx="11"/>
          </p:nvPr>
        </p:nvSpPr>
        <p:spPr/>
        <p:txBody>
          <a:bodyPr/>
          <a:lstStyle/>
          <a:p>
            <a:r>
              <a:rPr lang="en-IE"/>
              <a:t>SHeeney23</a:t>
            </a:r>
          </a:p>
        </p:txBody>
      </p:sp>
      <p:pic>
        <p:nvPicPr>
          <p:cNvPr id="6" name="Picture 5">
            <a:extLst>
              <a:ext uri="{FF2B5EF4-FFF2-40B4-BE49-F238E27FC236}">
                <a16:creationId xmlns:a16="http://schemas.microsoft.com/office/drawing/2014/main" id="{8642CDC8-0866-9E4C-AED9-CE77AD09C1A1}"/>
              </a:ext>
            </a:extLst>
          </p:cNvPr>
          <p:cNvPicPr>
            <a:picLocks noChangeAspect="1"/>
          </p:cNvPicPr>
          <p:nvPr/>
        </p:nvPicPr>
        <p:blipFill>
          <a:blip r:embed="rId2"/>
          <a:stretch>
            <a:fillRect/>
          </a:stretch>
        </p:blipFill>
        <p:spPr>
          <a:xfrm>
            <a:off x="7858897" y="9800"/>
            <a:ext cx="4333103" cy="3272876"/>
          </a:xfrm>
          <a:prstGeom prst="rect">
            <a:avLst/>
          </a:prstGeom>
        </p:spPr>
      </p:pic>
      <p:pic>
        <p:nvPicPr>
          <p:cNvPr id="8" name="Picture 7">
            <a:extLst>
              <a:ext uri="{FF2B5EF4-FFF2-40B4-BE49-F238E27FC236}">
                <a16:creationId xmlns:a16="http://schemas.microsoft.com/office/drawing/2014/main" id="{F4FDFF55-92F8-6170-7589-8E79765C3BCA}"/>
              </a:ext>
            </a:extLst>
          </p:cNvPr>
          <p:cNvPicPr>
            <a:picLocks noChangeAspect="1"/>
          </p:cNvPicPr>
          <p:nvPr/>
        </p:nvPicPr>
        <p:blipFill>
          <a:blip r:embed="rId3"/>
          <a:stretch>
            <a:fillRect/>
          </a:stretch>
        </p:blipFill>
        <p:spPr>
          <a:xfrm>
            <a:off x="6772275" y="5546725"/>
            <a:ext cx="5419725" cy="809625"/>
          </a:xfrm>
          <a:prstGeom prst="rect">
            <a:avLst/>
          </a:prstGeom>
        </p:spPr>
      </p:pic>
    </p:spTree>
    <p:extLst>
      <p:ext uri="{BB962C8B-B14F-4D97-AF65-F5344CB8AC3E}">
        <p14:creationId xmlns:p14="http://schemas.microsoft.com/office/powerpoint/2010/main" val="1479357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5FEBA1-5578-3648-5502-5EC03C80B04F}"/>
              </a:ext>
            </a:extLst>
          </p:cNvPr>
          <p:cNvSpPr>
            <a:spLocks noGrp="1"/>
          </p:cNvSpPr>
          <p:nvPr>
            <p:ph type="ftr" sz="quarter" idx="11"/>
          </p:nvPr>
        </p:nvSpPr>
        <p:spPr/>
        <p:txBody>
          <a:bodyPr/>
          <a:lstStyle/>
          <a:p>
            <a:r>
              <a:rPr lang="en-IE"/>
              <a:t>SHeeney23</a:t>
            </a:r>
          </a:p>
        </p:txBody>
      </p:sp>
      <p:pic>
        <p:nvPicPr>
          <p:cNvPr id="5" name="Picture 2">
            <a:extLst>
              <a:ext uri="{FF2B5EF4-FFF2-40B4-BE49-F238E27FC236}">
                <a16:creationId xmlns:a16="http://schemas.microsoft.com/office/drawing/2014/main" id="{84124086-6351-137B-8024-DC002BD10469}"/>
              </a:ext>
            </a:extLst>
          </p:cNvPr>
          <p:cNvPicPr>
            <a:picLocks noChangeAspect="1" noChangeArrowheads="1"/>
          </p:cNvPicPr>
          <p:nvPr/>
        </p:nvPicPr>
        <p:blipFill>
          <a:blip r:embed="rId2"/>
          <a:srcRect/>
          <a:stretch>
            <a:fillRect/>
          </a:stretch>
        </p:blipFill>
        <p:spPr bwMode="auto">
          <a:xfrm>
            <a:off x="1902941" y="784290"/>
            <a:ext cx="8544423" cy="5392673"/>
          </a:xfrm>
          <a:prstGeom prst="rect">
            <a:avLst/>
          </a:prstGeom>
          <a:noFill/>
          <a:ln w="9525">
            <a:noFill/>
            <a:miter lim="800000"/>
            <a:headEnd/>
            <a:tailEnd/>
          </a:ln>
        </p:spPr>
      </p:pic>
    </p:spTree>
    <p:extLst>
      <p:ext uri="{BB962C8B-B14F-4D97-AF65-F5344CB8AC3E}">
        <p14:creationId xmlns:p14="http://schemas.microsoft.com/office/powerpoint/2010/main" val="850699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B26A4-D848-72B8-DFC2-3BCCB5ED9481}"/>
              </a:ext>
            </a:extLst>
          </p:cNvPr>
          <p:cNvSpPr>
            <a:spLocks noGrp="1"/>
          </p:cNvSpPr>
          <p:nvPr>
            <p:ph type="title"/>
          </p:nvPr>
        </p:nvSpPr>
        <p:spPr/>
        <p:txBody>
          <a:bodyPr/>
          <a:lstStyle/>
          <a:p>
            <a:r>
              <a:rPr lang="en-IE" dirty="0"/>
              <a:t>Important Points in Crypto History</a:t>
            </a:r>
          </a:p>
        </p:txBody>
      </p:sp>
      <p:sp>
        <p:nvSpPr>
          <p:cNvPr id="3" name="Content Placeholder 2">
            <a:extLst>
              <a:ext uri="{FF2B5EF4-FFF2-40B4-BE49-F238E27FC236}">
                <a16:creationId xmlns:a16="http://schemas.microsoft.com/office/drawing/2014/main" id="{2CFB6365-3784-DC44-880E-1FB6128985F1}"/>
              </a:ext>
            </a:extLst>
          </p:cNvPr>
          <p:cNvSpPr>
            <a:spLocks noGrp="1"/>
          </p:cNvSpPr>
          <p:nvPr>
            <p:ph idx="1"/>
          </p:nvPr>
        </p:nvSpPr>
        <p:spPr/>
        <p:txBody>
          <a:bodyPr>
            <a:normAutofit fontScale="55000" lnSpcReduction="20000"/>
          </a:bodyPr>
          <a:lstStyle/>
          <a:p>
            <a:r>
              <a:rPr lang="en-IE" b="1" dirty="0"/>
              <a:t>1 </a:t>
            </a:r>
            <a:r>
              <a:rPr lang="en-IE" b="1" dirty="0" err="1"/>
              <a:t>st</a:t>
            </a:r>
            <a:r>
              <a:rPr lang="en-IE" b="1" dirty="0"/>
              <a:t> November 1998</a:t>
            </a:r>
          </a:p>
          <a:p>
            <a:pPr marL="0" indent="0">
              <a:buNone/>
            </a:pPr>
            <a:r>
              <a:rPr lang="en-IE" dirty="0"/>
              <a:t>Wei Dai – b-money</a:t>
            </a:r>
          </a:p>
          <a:p>
            <a:endParaRPr lang="en-IE" dirty="0"/>
          </a:p>
          <a:p>
            <a:r>
              <a:rPr lang="en-IE" b="1" dirty="0"/>
              <a:t>1 </a:t>
            </a:r>
            <a:r>
              <a:rPr lang="en-IE" b="1" dirty="0" err="1"/>
              <a:t>st</a:t>
            </a:r>
            <a:r>
              <a:rPr lang="en-IE" b="1" dirty="0"/>
              <a:t> August 2002</a:t>
            </a:r>
          </a:p>
          <a:p>
            <a:pPr marL="0" indent="0">
              <a:buNone/>
            </a:pPr>
            <a:r>
              <a:rPr lang="en-IE" dirty="0"/>
              <a:t>Adam Back – </a:t>
            </a:r>
            <a:r>
              <a:rPr lang="en-IE" dirty="0" err="1"/>
              <a:t>Hashcash</a:t>
            </a:r>
            <a:endParaRPr lang="en-IE" dirty="0"/>
          </a:p>
          <a:p>
            <a:endParaRPr lang="en-IE" dirty="0"/>
          </a:p>
          <a:p>
            <a:r>
              <a:rPr lang="en-IE" b="1" dirty="0"/>
              <a:t>15 August 2004</a:t>
            </a:r>
          </a:p>
          <a:p>
            <a:pPr marL="0" indent="0">
              <a:buNone/>
            </a:pPr>
            <a:r>
              <a:rPr lang="en-IE" dirty="0"/>
              <a:t>Hal Finney – Reusable Proof of Works</a:t>
            </a:r>
          </a:p>
          <a:p>
            <a:pPr marL="0" indent="0">
              <a:buNone/>
            </a:pPr>
            <a:r>
              <a:rPr lang="en-IE" dirty="0"/>
              <a:t>Hal Finney - </a:t>
            </a:r>
            <a:r>
              <a:rPr lang="en-IE" dirty="0" err="1"/>
              <a:t>Cyperphunks</a:t>
            </a:r>
            <a:r>
              <a:rPr lang="en-IE" dirty="0"/>
              <a:t> announcement</a:t>
            </a:r>
          </a:p>
          <a:p>
            <a:endParaRPr lang="en-IE" dirty="0"/>
          </a:p>
          <a:p>
            <a:r>
              <a:rPr lang="en-IE" b="1" dirty="0"/>
              <a:t>December 27 2008:</a:t>
            </a:r>
          </a:p>
          <a:p>
            <a:pPr marL="0" indent="0">
              <a:buNone/>
            </a:pPr>
            <a:r>
              <a:rPr lang="en-IE" dirty="0"/>
              <a:t>Nick Szabo – Bit gold</a:t>
            </a:r>
          </a:p>
          <a:p>
            <a:endParaRPr lang="en-IE" dirty="0"/>
          </a:p>
          <a:p>
            <a:r>
              <a:rPr lang="en-IE" b="1" dirty="0"/>
              <a:t>February 11 2009:</a:t>
            </a:r>
          </a:p>
          <a:p>
            <a:pPr marL="0" indent="0">
              <a:buNone/>
            </a:pPr>
            <a:r>
              <a:rPr lang="en-IE" dirty="0"/>
              <a:t>Satoshi – P2P foundation</a:t>
            </a:r>
          </a:p>
          <a:p>
            <a:endParaRPr lang="en-IE" dirty="0"/>
          </a:p>
        </p:txBody>
      </p:sp>
      <p:sp>
        <p:nvSpPr>
          <p:cNvPr id="4" name="Footer Placeholder 3">
            <a:extLst>
              <a:ext uri="{FF2B5EF4-FFF2-40B4-BE49-F238E27FC236}">
                <a16:creationId xmlns:a16="http://schemas.microsoft.com/office/drawing/2014/main" id="{C55D64D3-60E5-6D65-3A91-E2D5ABC11266}"/>
              </a:ext>
            </a:extLst>
          </p:cNvPr>
          <p:cNvSpPr>
            <a:spLocks noGrp="1"/>
          </p:cNvSpPr>
          <p:nvPr>
            <p:ph type="ftr" sz="quarter" idx="11"/>
          </p:nvPr>
        </p:nvSpPr>
        <p:spPr/>
        <p:txBody>
          <a:bodyPr/>
          <a:lstStyle/>
          <a:p>
            <a:r>
              <a:rPr lang="en-IE"/>
              <a:t>SHeeney23</a:t>
            </a:r>
          </a:p>
        </p:txBody>
      </p:sp>
      <p:sp>
        <p:nvSpPr>
          <p:cNvPr id="6" name="TextBox 5">
            <a:extLst>
              <a:ext uri="{FF2B5EF4-FFF2-40B4-BE49-F238E27FC236}">
                <a16:creationId xmlns:a16="http://schemas.microsoft.com/office/drawing/2014/main" id="{1AE16627-326E-B210-36FB-04BE75B24B22}"/>
              </a:ext>
            </a:extLst>
          </p:cNvPr>
          <p:cNvSpPr txBox="1"/>
          <p:nvPr/>
        </p:nvSpPr>
        <p:spPr>
          <a:xfrm>
            <a:off x="5881816" y="2708632"/>
            <a:ext cx="6096000" cy="3139321"/>
          </a:xfrm>
          <a:prstGeom prst="rect">
            <a:avLst/>
          </a:prstGeom>
          <a:noFill/>
        </p:spPr>
        <p:txBody>
          <a:bodyPr wrap="square">
            <a:spAutoFit/>
          </a:bodyPr>
          <a:lstStyle/>
          <a:p>
            <a:r>
              <a:rPr lang="en-IE" sz="1800" dirty="0"/>
              <a:t>I am fascinated by Tim May's crypto-anarchy. Unlike the communities traditionally associated with the word </a:t>
            </a:r>
          </a:p>
          <a:p>
            <a:r>
              <a:rPr lang="en-IE" sz="1800" dirty="0"/>
              <a:t>"anarchy", in a crypto-anarchy the government is not temporarily destroyed but permanently forbidden and </a:t>
            </a:r>
          </a:p>
          <a:p>
            <a:r>
              <a:rPr lang="en-IE" sz="1800" dirty="0"/>
              <a:t>permanently unnecessary. It's a community where the threat of violence is impotent because violence is </a:t>
            </a:r>
          </a:p>
          <a:p>
            <a:r>
              <a:rPr lang="en-IE" sz="1800" dirty="0"/>
              <a:t>impossible, and violence is impossible because its participants cannot be linked to their true names or </a:t>
            </a:r>
          </a:p>
          <a:p>
            <a:r>
              <a:rPr lang="en-IE" sz="1800" dirty="0"/>
              <a:t>physical locations. “ </a:t>
            </a:r>
          </a:p>
          <a:p>
            <a:endParaRPr lang="en-IE" dirty="0"/>
          </a:p>
          <a:p>
            <a:r>
              <a:rPr lang="en-IE" sz="1800" dirty="0"/>
              <a:t>(Dai, 1998)</a:t>
            </a:r>
            <a:endParaRPr lang="en-IE" dirty="0"/>
          </a:p>
        </p:txBody>
      </p:sp>
    </p:spTree>
    <p:extLst>
      <p:ext uri="{BB962C8B-B14F-4D97-AF65-F5344CB8AC3E}">
        <p14:creationId xmlns:p14="http://schemas.microsoft.com/office/powerpoint/2010/main" val="2657319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239CFE5-BF6B-1308-239A-D87A1F7CAAB1}"/>
              </a:ext>
            </a:extLst>
          </p:cNvPr>
          <p:cNvSpPr>
            <a:spLocks noGrp="1"/>
          </p:cNvSpPr>
          <p:nvPr>
            <p:ph type="ftr" sz="quarter" idx="11"/>
          </p:nvPr>
        </p:nvSpPr>
        <p:spPr/>
        <p:txBody>
          <a:bodyPr/>
          <a:lstStyle/>
          <a:p>
            <a:r>
              <a:rPr lang="en-IE"/>
              <a:t>SHeeney23</a:t>
            </a:r>
          </a:p>
        </p:txBody>
      </p:sp>
      <p:pic>
        <p:nvPicPr>
          <p:cNvPr id="5" name="Picture 2">
            <a:extLst>
              <a:ext uri="{FF2B5EF4-FFF2-40B4-BE49-F238E27FC236}">
                <a16:creationId xmlns:a16="http://schemas.microsoft.com/office/drawing/2014/main" id="{910DD0CA-9B3E-78DB-0930-46A792BB2630}"/>
              </a:ext>
            </a:extLst>
          </p:cNvPr>
          <p:cNvPicPr>
            <a:picLocks noChangeAspect="1" noChangeArrowheads="1"/>
          </p:cNvPicPr>
          <p:nvPr/>
        </p:nvPicPr>
        <p:blipFill>
          <a:blip r:embed="rId2"/>
          <a:srcRect/>
          <a:stretch>
            <a:fillRect/>
          </a:stretch>
        </p:blipFill>
        <p:spPr bwMode="auto">
          <a:xfrm>
            <a:off x="2729033" y="1411106"/>
            <a:ext cx="6733934" cy="4195147"/>
          </a:xfrm>
          <a:prstGeom prst="rect">
            <a:avLst/>
          </a:prstGeom>
          <a:noFill/>
          <a:ln w="9525">
            <a:noFill/>
            <a:miter lim="800000"/>
            <a:headEnd/>
            <a:tailEnd/>
          </a:ln>
          <a:effectLst/>
        </p:spPr>
      </p:pic>
    </p:spTree>
    <p:extLst>
      <p:ext uri="{BB962C8B-B14F-4D97-AF65-F5344CB8AC3E}">
        <p14:creationId xmlns:p14="http://schemas.microsoft.com/office/powerpoint/2010/main" val="1667527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09C52-38F3-F667-CF2B-8E545F72E20C}"/>
              </a:ext>
            </a:extLst>
          </p:cNvPr>
          <p:cNvSpPr>
            <a:spLocks noGrp="1"/>
          </p:cNvSpPr>
          <p:nvPr>
            <p:ph type="title"/>
          </p:nvPr>
        </p:nvSpPr>
        <p:spPr/>
        <p:txBody>
          <a:bodyPr/>
          <a:lstStyle/>
          <a:p>
            <a:r>
              <a:rPr lang="en-IE" dirty="0"/>
              <a:t>Notes on </a:t>
            </a:r>
            <a:r>
              <a:rPr lang="en-IE" dirty="0" err="1"/>
              <a:t>MetaMask</a:t>
            </a:r>
            <a:r>
              <a:rPr lang="en-IE" dirty="0"/>
              <a:t> &amp; </a:t>
            </a:r>
            <a:br>
              <a:rPr lang="en-IE" dirty="0"/>
            </a:br>
            <a:r>
              <a:rPr lang="en-IE" dirty="0"/>
              <a:t>Faucets</a:t>
            </a:r>
          </a:p>
        </p:txBody>
      </p:sp>
      <p:sp>
        <p:nvSpPr>
          <p:cNvPr id="3" name="Content Placeholder 2">
            <a:extLst>
              <a:ext uri="{FF2B5EF4-FFF2-40B4-BE49-F238E27FC236}">
                <a16:creationId xmlns:a16="http://schemas.microsoft.com/office/drawing/2014/main" id="{F40D181C-54F2-6706-CF94-4D664360168E}"/>
              </a:ext>
            </a:extLst>
          </p:cNvPr>
          <p:cNvSpPr>
            <a:spLocks noGrp="1"/>
          </p:cNvSpPr>
          <p:nvPr>
            <p:ph idx="1"/>
          </p:nvPr>
        </p:nvSpPr>
        <p:spPr>
          <a:xfrm>
            <a:off x="838200" y="1825625"/>
            <a:ext cx="4936524" cy="4351338"/>
          </a:xfrm>
        </p:spPr>
        <p:txBody>
          <a:bodyPr>
            <a:noAutofit/>
          </a:bodyPr>
          <a:lstStyle/>
          <a:p>
            <a:r>
              <a:rPr lang="en-IE" sz="1600" dirty="0"/>
              <a:t>Overview: </a:t>
            </a:r>
          </a:p>
          <a:p>
            <a:r>
              <a:rPr lang="en-IE" sz="1600" dirty="0">
                <a:hlinkClick r:id="rId2"/>
              </a:rPr>
              <a:t>https://ethereum.org/en/developers/docs/networks/</a:t>
            </a:r>
            <a:r>
              <a:rPr lang="en-IE" sz="1600" dirty="0"/>
              <a:t> </a:t>
            </a:r>
          </a:p>
          <a:p>
            <a:endParaRPr lang="en-IE" sz="1600" dirty="0"/>
          </a:p>
          <a:p>
            <a:endParaRPr lang="en-IE" sz="1600" dirty="0"/>
          </a:p>
          <a:p>
            <a:r>
              <a:rPr lang="en-IE" sz="1600" dirty="0"/>
              <a:t>Explorers: </a:t>
            </a:r>
          </a:p>
          <a:p>
            <a:r>
              <a:rPr lang="en-IE" sz="1600" dirty="0">
                <a:hlinkClick r:id="rId3"/>
              </a:rPr>
              <a:t>https://goerli.etherscan.io</a:t>
            </a:r>
            <a:r>
              <a:rPr lang="en-IE" sz="1600" dirty="0"/>
              <a:t> </a:t>
            </a:r>
          </a:p>
          <a:p>
            <a:r>
              <a:rPr lang="en-IE" sz="1600" dirty="0">
                <a:hlinkClick r:id="rId4"/>
              </a:rPr>
              <a:t>https://sepolia.etherscan.io/</a:t>
            </a:r>
            <a:r>
              <a:rPr lang="en-IE" sz="1600" dirty="0"/>
              <a:t> </a:t>
            </a:r>
          </a:p>
          <a:p>
            <a:endParaRPr lang="en-IE" sz="1600" dirty="0"/>
          </a:p>
          <a:p>
            <a:endParaRPr lang="en-IE" sz="1600" dirty="0"/>
          </a:p>
        </p:txBody>
      </p:sp>
      <p:sp>
        <p:nvSpPr>
          <p:cNvPr id="4" name="Footer Placeholder 3">
            <a:extLst>
              <a:ext uri="{FF2B5EF4-FFF2-40B4-BE49-F238E27FC236}">
                <a16:creationId xmlns:a16="http://schemas.microsoft.com/office/drawing/2014/main" id="{77F559F4-6025-863F-831B-ABF246FA25E8}"/>
              </a:ext>
            </a:extLst>
          </p:cNvPr>
          <p:cNvSpPr>
            <a:spLocks noGrp="1"/>
          </p:cNvSpPr>
          <p:nvPr>
            <p:ph type="ftr" sz="quarter" idx="11"/>
          </p:nvPr>
        </p:nvSpPr>
        <p:spPr/>
        <p:txBody>
          <a:bodyPr/>
          <a:lstStyle/>
          <a:p>
            <a:r>
              <a:rPr lang="en-IE"/>
              <a:t>SHeeney23</a:t>
            </a:r>
          </a:p>
        </p:txBody>
      </p:sp>
      <p:sp>
        <p:nvSpPr>
          <p:cNvPr id="6" name="TextBox 5">
            <a:extLst>
              <a:ext uri="{FF2B5EF4-FFF2-40B4-BE49-F238E27FC236}">
                <a16:creationId xmlns:a16="http://schemas.microsoft.com/office/drawing/2014/main" id="{6DA592F7-41AB-AB54-3BB8-8C4ED2EBFFAE}"/>
              </a:ext>
            </a:extLst>
          </p:cNvPr>
          <p:cNvSpPr txBox="1"/>
          <p:nvPr/>
        </p:nvSpPr>
        <p:spPr>
          <a:xfrm>
            <a:off x="5881816" y="1098650"/>
            <a:ext cx="6096000" cy="5078313"/>
          </a:xfrm>
          <a:prstGeom prst="rect">
            <a:avLst/>
          </a:prstGeom>
          <a:noFill/>
        </p:spPr>
        <p:txBody>
          <a:bodyPr wrap="square">
            <a:spAutoFit/>
          </a:bodyPr>
          <a:lstStyle/>
          <a:p>
            <a:r>
              <a:rPr lang="en-IE" sz="1800" dirty="0"/>
              <a:t>Faucets</a:t>
            </a:r>
          </a:p>
          <a:p>
            <a:r>
              <a:rPr lang="en-IE" sz="1800" dirty="0" err="1"/>
              <a:t>Sepolia</a:t>
            </a:r>
            <a:r>
              <a:rPr lang="en-IE" sz="1800" dirty="0"/>
              <a:t> </a:t>
            </a:r>
          </a:p>
          <a:p>
            <a:r>
              <a:rPr lang="en-IE" sz="1800" dirty="0">
                <a:hlinkClick r:id="rId5"/>
              </a:rPr>
              <a:t>https://sepolia-faucet.pk910.de/</a:t>
            </a:r>
            <a:r>
              <a:rPr lang="en-IE" sz="1800" dirty="0"/>
              <a:t> </a:t>
            </a:r>
          </a:p>
          <a:p>
            <a:endParaRPr lang="en-IE" sz="1800" dirty="0"/>
          </a:p>
          <a:p>
            <a:r>
              <a:rPr lang="en-IE" sz="1800" dirty="0" err="1"/>
              <a:t>Gorli</a:t>
            </a:r>
            <a:r>
              <a:rPr lang="en-IE" sz="1800" dirty="0"/>
              <a:t>: </a:t>
            </a:r>
          </a:p>
          <a:p>
            <a:r>
              <a:rPr lang="en-IE" sz="1800" dirty="0">
                <a:hlinkClick r:id="rId6"/>
              </a:rPr>
              <a:t>https://fauceth.komputing.org/?address=0x0b97Bc397357e6b95435a9b8B3D17FbcD528173E</a:t>
            </a:r>
            <a:r>
              <a:rPr lang="en-IE" sz="1800" dirty="0"/>
              <a:t> </a:t>
            </a:r>
          </a:p>
          <a:p>
            <a:endParaRPr lang="en-IE" sz="1800" dirty="0"/>
          </a:p>
          <a:p>
            <a:r>
              <a:rPr lang="en-IE" sz="1800" dirty="0"/>
              <a:t>Alchemy  </a:t>
            </a:r>
          </a:p>
          <a:p>
            <a:r>
              <a:rPr lang="en-IE" sz="1800" dirty="0">
                <a:hlinkClick r:id="rId7"/>
              </a:rPr>
              <a:t>https://goerlifaucet.com/</a:t>
            </a:r>
            <a:r>
              <a:rPr lang="en-IE" sz="1800" dirty="0"/>
              <a:t> </a:t>
            </a:r>
          </a:p>
          <a:p>
            <a:endParaRPr lang="en-IE" sz="1800" dirty="0"/>
          </a:p>
          <a:p>
            <a:r>
              <a:rPr lang="en-IE" sz="1800" dirty="0" err="1"/>
              <a:t>NotGreat</a:t>
            </a:r>
            <a:r>
              <a:rPr lang="en-IE" sz="1800" dirty="0"/>
              <a:t>: </a:t>
            </a:r>
          </a:p>
          <a:p>
            <a:r>
              <a:rPr lang="en-IE" sz="1800" dirty="0">
                <a:hlinkClick r:id="rId8"/>
              </a:rPr>
              <a:t>https://faucet.quicknode.com/ethereum/goerli/?transactionHash=0x72a42624ccb50d5f2c4fe637babb1adb4db147001b536412ae01340074de3961</a:t>
            </a:r>
            <a:r>
              <a:rPr lang="en-IE" sz="1800" dirty="0"/>
              <a:t> </a:t>
            </a:r>
          </a:p>
          <a:p>
            <a:endParaRPr lang="en-IE" sz="1800" dirty="0"/>
          </a:p>
          <a:p>
            <a:r>
              <a:rPr lang="en-IE" sz="1800" dirty="0" err="1"/>
              <a:t>Other_MyCrypto_Dashboard</a:t>
            </a:r>
            <a:r>
              <a:rPr lang="en-IE" sz="1800" dirty="0"/>
              <a:t>: Only Supports </a:t>
            </a:r>
            <a:r>
              <a:rPr lang="en-IE" sz="1800" dirty="0" err="1"/>
              <a:t>Goerli</a:t>
            </a:r>
            <a:endParaRPr lang="en-IE" sz="1800" dirty="0"/>
          </a:p>
          <a:p>
            <a:r>
              <a:rPr lang="en-IE" sz="1800" dirty="0">
                <a:hlinkClick r:id="rId9"/>
              </a:rPr>
              <a:t>https://app.mycrypto.com/dashboard</a:t>
            </a:r>
            <a:r>
              <a:rPr lang="en-IE" sz="1800" dirty="0"/>
              <a:t> </a:t>
            </a:r>
          </a:p>
        </p:txBody>
      </p:sp>
      <p:pic>
        <p:nvPicPr>
          <p:cNvPr id="8" name="Picture 7">
            <a:extLst>
              <a:ext uri="{FF2B5EF4-FFF2-40B4-BE49-F238E27FC236}">
                <a16:creationId xmlns:a16="http://schemas.microsoft.com/office/drawing/2014/main" id="{2D30FCEB-E7DF-9C3B-10B0-57947C0D6954}"/>
              </a:ext>
            </a:extLst>
          </p:cNvPr>
          <p:cNvPicPr>
            <a:picLocks noChangeAspect="1"/>
          </p:cNvPicPr>
          <p:nvPr/>
        </p:nvPicPr>
        <p:blipFill>
          <a:blip r:embed="rId10"/>
          <a:stretch>
            <a:fillRect/>
          </a:stretch>
        </p:blipFill>
        <p:spPr>
          <a:xfrm>
            <a:off x="57665" y="4319697"/>
            <a:ext cx="1998963" cy="2036653"/>
          </a:xfrm>
          <a:prstGeom prst="rect">
            <a:avLst/>
          </a:prstGeom>
        </p:spPr>
      </p:pic>
      <p:pic>
        <p:nvPicPr>
          <p:cNvPr id="10" name="Picture 9">
            <a:extLst>
              <a:ext uri="{FF2B5EF4-FFF2-40B4-BE49-F238E27FC236}">
                <a16:creationId xmlns:a16="http://schemas.microsoft.com/office/drawing/2014/main" id="{223FBF0D-7392-62B4-29A0-59254270CDA8}"/>
              </a:ext>
            </a:extLst>
          </p:cNvPr>
          <p:cNvPicPr>
            <a:picLocks noChangeAspect="1"/>
          </p:cNvPicPr>
          <p:nvPr/>
        </p:nvPicPr>
        <p:blipFill>
          <a:blip r:embed="rId11"/>
          <a:stretch>
            <a:fillRect/>
          </a:stretch>
        </p:blipFill>
        <p:spPr>
          <a:xfrm>
            <a:off x="2056628" y="4319697"/>
            <a:ext cx="3563251" cy="2036653"/>
          </a:xfrm>
          <a:prstGeom prst="rect">
            <a:avLst/>
          </a:prstGeom>
        </p:spPr>
      </p:pic>
    </p:spTree>
    <p:extLst>
      <p:ext uri="{BB962C8B-B14F-4D97-AF65-F5344CB8AC3E}">
        <p14:creationId xmlns:p14="http://schemas.microsoft.com/office/powerpoint/2010/main" val="1665960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D7697-0DDD-2926-C9AD-B78BB25AAC3A}"/>
              </a:ext>
            </a:extLst>
          </p:cNvPr>
          <p:cNvSpPr>
            <a:spLocks noGrp="1"/>
          </p:cNvSpPr>
          <p:nvPr>
            <p:ph type="title"/>
          </p:nvPr>
        </p:nvSpPr>
        <p:spPr/>
        <p:txBody>
          <a:bodyPr/>
          <a:lstStyle/>
          <a:p>
            <a:r>
              <a:rPr lang="en-IE" dirty="0"/>
              <a:t>Smart Contracts Prologue,</a:t>
            </a:r>
            <a:br>
              <a:rPr lang="en-IE" dirty="0"/>
            </a:br>
            <a:r>
              <a:rPr lang="en-IE" sz="1600" dirty="0"/>
              <a:t>an event or act that leads to another.</a:t>
            </a:r>
          </a:p>
        </p:txBody>
      </p:sp>
      <p:sp>
        <p:nvSpPr>
          <p:cNvPr id="3" name="Content Placeholder 2">
            <a:extLst>
              <a:ext uri="{FF2B5EF4-FFF2-40B4-BE49-F238E27FC236}">
                <a16:creationId xmlns:a16="http://schemas.microsoft.com/office/drawing/2014/main" id="{8B794376-1414-FA14-F55A-9B3E7864A789}"/>
              </a:ext>
            </a:extLst>
          </p:cNvPr>
          <p:cNvSpPr>
            <a:spLocks noGrp="1"/>
          </p:cNvSpPr>
          <p:nvPr>
            <p:ph idx="1"/>
          </p:nvPr>
        </p:nvSpPr>
        <p:spPr/>
        <p:txBody>
          <a:bodyPr/>
          <a:lstStyle/>
          <a:p>
            <a:r>
              <a:rPr lang="en-IE" dirty="0"/>
              <a:t>Defined in 1996 by Nick Szabo</a:t>
            </a:r>
          </a:p>
          <a:p>
            <a:r>
              <a:rPr lang="en-IE" dirty="0"/>
              <a:t>Computer protocol used to facilitate, verify or enforce a legal contract.</a:t>
            </a:r>
          </a:p>
          <a:p>
            <a:r>
              <a:rPr lang="en-IE" dirty="0"/>
              <a:t>The smart contract is the code itself, and is used to govern all aspects of a contract in order to free it from requiring a third party to confirm all aspects of the contract have been undertaken and satisfied (Decentralisation).</a:t>
            </a:r>
          </a:p>
          <a:p>
            <a:r>
              <a:rPr lang="en-IE" dirty="0"/>
              <a:t>Read the Docs : </a:t>
            </a:r>
            <a:r>
              <a:rPr lang="en-IE" dirty="0">
                <a:hlinkClick r:id="rId2"/>
              </a:rPr>
              <a:t>https://ethereum.org/en/developers/</a:t>
            </a:r>
            <a:r>
              <a:rPr lang="en-IE" dirty="0"/>
              <a:t> </a:t>
            </a:r>
          </a:p>
          <a:p>
            <a:endParaRPr lang="en-IE" dirty="0"/>
          </a:p>
        </p:txBody>
      </p:sp>
      <p:sp>
        <p:nvSpPr>
          <p:cNvPr id="4" name="Footer Placeholder 3">
            <a:extLst>
              <a:ext uri="{FF2B5EF4-FFF2-40B4-BE49-F238E27FC236}">
                <a16:creationId xmlns:a16="http://schemas.microsoft.com/office/drawing/2014/main" id="{2F02D675-0757-F885-47CB-120CBCCCE048}"/>
              </a:ext>
            </a:extLst>
          </p:cNvPr>
          <p:cNvSpPr>
            <a:spLocks noGrp="1"/>
          </p:cNvSpPr>
          <p:nvPr>
            <p:ph type="ftr" sz="quarter" idx="11"/>
          </p:nvPr>
        </p:nvSpPr>
        <p:spPr/>
        <p:txBody>
          <a:bodyPr/>
          <a:lstStyle/>
          <a:p>
            <a:r>
              <a:rPr lang="en-IE"/>
              <a:t>SHeeney23</a:t>
            </a:r>
          </a:p>
        </p:txBody>
      </p:sp>
      <p:pic>
        <p:nvPicPr>
          <p:cNvPr id="6" name="Picture 5">
            <a:extLst>
              <a:ext uri="{FF2B5EF4-FFF2-40B4-BE49-F238E27FC236}">
                <a16:creationId xmlns:a16="http://schemas.microsoft.com/office/drawing/2014/main" id="{E1664DB7-D5D7-EDF3-6657-2B90C093D943}"/>
              </a:ext>
            </a:extLst>
          </p:cNvPr>
          <p:cNvPicPr>
            <a:picLocks noChangeAspect="1"/>
          </p:cNvPicPr>
          <p:nvPr/>
        </p:nvPicPr>
        <p:blipFill>
          <a:blip r:embed="rId3"/>
          <a:stretch>
            <a:fillRect/>
          </a:stretch>
        </p:blipFill>
        <p:spPr>
          <a:xfrm>
            <a:off x="8509686" y="1404"/>
            <a:ext cx="3682314" cy="2315227"/>
          </a:xfrm>
          <a:prstGeom prst="rect">
            <a:avLst/>
          </a:prstGeom>
        </p:spPr>
      </p:pic>
    </p:spTree>
    <p:extLst>
      <p:ext uri="{BB962C8B-B14F-4D97-AF65-F5344CB8AC3E}">
        <p14:creationId xmlns:p14="http://schemas.microsoft.com/office/powerpoint/2010/main" val="2822491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B9A2AB4-AAD4-7DED-8D55-13D832F50562}"/>
              </a:ext>
            </a:extLst>
          </p:cNvPr>
          <p:cNvSpPr>
            <a:spLocks noGrp="1"/>
          </p:cNvSpPr>
          <p:nvPr>
            <p:ph type="ftr" sz="quarter" idx="11"/>
          </p:nvPr>
        </p:nvSpPr>
        <p:spPr/>
        <p:txBody>
          <a:bodyPr/>
          <a:lstStyle/>
          <a:p>
            <a:r>
              <a:rPr lang="en-IE"/>
              <a:t>SHeeney23</a:t>
            </a:r>
          </a:p>
        </p:txBody>
      </p:sp>
      <p:pic>
        <p:nvPicPr>
          <p:cNvPr id="5" name="Picture 2">
            <a:extLst>
              <a:ext uri="{FF2B5EF4-FFF2-40B4-BE49-F238E27FC236}">
                <a16:creationId xmlns:a16="http://schemas.microsoft.com/office/drawing/2014/main" id="{64B48415-5B75-E8AB-586D-A2621B7B967B}"/>
              </a:ext>
            </a:extLst>
          </p:cNvPr>
          <p:cNvPicPr>
            <a:picLocks noChangeAspect="1" noChangeArrowheads="1"/>
          </p:cNvPicPr>
          <p:nvPr/>
        </p:nvPicPr>
        <p:blipFill>
          <a:blip r:embed="rId2"/>
          <a:srcRect/>
          <a:stretch>
            <a:fillRect/>
          </a:stretch>
        </p:blipFill>
        <p:spPr bwMode="auto">
          <a:xfrm>
            <a:off x="1323801" y="2038958"/>
            <a:ext cx="9784045" cy="3587485"/>
          </a:xfrm>
          <a:prstGeom prst="rect">
            <a:avLst/>
          </a:prstGeom>
          <a:noFill/>
          <a:ln w="9525">
            <a:noFill/>
            <a:miter lim="800000"/>
            <a:headEnd/>
            <a:tailEnd/>
          </a:ln>
          <a:effectLst/>
        </p:spPr>
      </p:pic>
    </p:spTree>
    <p:extLst>
      <p:ext uri="{BB962C8B-B14F-4D97-AF65-F5344CB8AC3E}">
        <p14:creationId xmlns:p14="http://schemas.microsoft.com/office/powerpoint/2010/main" val="3104005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CDB02-09DB-46A7-4013-88381EE0DC15}"/>
              </a:ext>
            </a:extLst>
          </p:cNvPr>
          <p:cNvSpPr>
            <a:spLocks noGrp="1"/>
          </p:cNvSpPr>
          <p:nvPr>
            <p:ph type="title"/>
          </p:nvPr>
        </p:nvSpPr>
        <p:spPr/>
        <p:txBody>
          <a:bodyPr/>
          <a:lstStyle/>
          <a:p>
            <a:r>
              <a:rPr lang="en-IE" dirty="0"/>
              <a:t>Electronic Contracts , but much more ! ! </a:t>
            </a:r>
          </a:p>
        </p:txBody>
      </p:sp>
      <p:sp>
        <p:nvSpPr>
          <p:cNvPr id="3" name="Content Placeholder 2">
            <a:extLst>
              <a:ext uri="{FF2B5EF4-FFF2-40B4-BE49-F238E27FC236}">
                <a16:creationId xmlns:a16="http://schemas.microsoft.com/office/drawing/2014/main" id="{BE3C5A6B-695D-5733-79A7-7CE3DF41E3DB}"/>
              </a:ext>
            </a:extLst>
          </p:cNvPr>
          <p:cNvSpPr>
            <a:spLocks noGrp="1"/>
          </p:cNvSpPr>
          <p:nvPr>
            <p:ph idx="1"/>
          </p:nvPr>
        </p:nvSpPr>
        <p:spPr/>
        <p:txBody>
          <a:bodyPr>
            <a:normAutofit fontScale="55000" lnSpcReduction="20000"/>
          </a:bodyPr>
          <a:lstStyle/>
          <a:p>
            <a:r>
              <a:rPr lang="en-IE" dirty="0"/>
              <a:t>Control / Code</a:t>
            </a:r>
          </a:p>
          <a:p>
            <a:r>
              <a:rPr lang="en-IE" dirty="0"/>
              <a:t>Hypothetically,  your bank could arbitrarily add or remove money from your account. </a:t>
            </a:r>
          </a:p>
          <a:p>
            <a:pPr marL="0" indent="0">
              <a:buNone/>
            </a:pPr>
            <a:endParaRPr lang="en-IE" dirty="0"/>
          </a:p>
          <a:p>
            <a:r>
              <a:rPr lang="en-IE" dirty="0"/>
              <a:t>In a blockchain ecosystem, there should be no single source of control. The distributed nature of the network with the consensus mechanisms result in multiple parties performing checks, with breaches to the pre-conformed rules rejected by consensus</a:t>
            </a:r>
          </a:p>
          <a:p>
            <a:r>
              <a:rPr lang="en-IE" dirty="0"/>
              <a:t>Transparency </a:t>
            </a:r>
          </a:p>
          <a:p>
            <a:r>
              <a:rPr lang="en-IE" dirty="0"/>
              <a:t>Anyone can see and review the code </a:t>
            </a:r>
            <a:r>
              <a:rPr lang="en-IE" dirty="0" err="1"/>
              <a:t>i.e</a:t>
            </a:r>
            <a:r>
              <a:rPr lang="en-IE" dirty="0"/>
              <a:t> the contract</a:t>
            </a:r>
          </a:p>
          <a:p>
            <a:r>
              <a:rPr lang="en-IE" dirty="0"/>
              <a:t>Are there positives and negatives related to this point? </a:t>
            </a:r>
          </a:p>
          <a:p>
            <a:pPr marL="0" indent="0">
              <a:buNone/>
            </a:pPr>
            <a:endParaRPr lang="en-IE" dirty="0"/>
          </a:p>
          <a:p>
            <a:pPr marL="0" indent="0">
              <a:buNone/>
            </a:pPr>
            <a:endParaRPr lang="en-IE" dirty="0"/>
          </a:p>
          <a:p>
            <a:r>
              <a:rPr lang="en-IE" dirty="0"/>
              <a:t>Current implementation: Send a direct debit on the 5th of every month to Michael</a:t>
            </a:r>
          </a:p>
          <a:p>
            <a:r>
              <a:rPr lang="en-IE" dirty="0"/>
              <a:t>Possibilities with smart contracts : Send a direct debit on the 5th business day every month. If earnings for the previous month are less than 10k,  then send 1k.  If earnings are greater than this, send 1k plus 10% of the difference. </a:t>
            </a:r>
          </a:p>
          <a:p>
            <a:r>
              <a:rPr lang="en-IE" dirty="0"/>
              <a:t>Rainy day smart contract: Every day it is sunny, send 3.33% of my salary to my savings account. If it rains, transfer this back to my current account. </a:t>
            </a:r>
          </a:p>
          <a:p>
            <a:pPr marL="0" indent="0">
              <a:buNone/>
            </a:pPr>
            <a:endParaRPr lang="en-IE" dirty="0"/>
          </a:p>
        </p:txBody>
      </p:sp>
      <p:sp>
        <p:nvSpPr>
          <p:cNvPr id="4" name="Footer Placeholder 3">
            <a:extLst>
              <a:ext uri="{FF2B5EF4-FFF2-40B4-BE49-F238E27FC236}">
                <a16:creationId xmlns:a16="http://schemas.microsoft.com/office/drawing/2014/main" id="{7E9B24C6-5C70-6367-FA25-6E3125CA0803}"/>
              </a:ext>
            </a:extLst>
          </p:cNvPr>
          <p:cNvSpPr>
            <a:spLocks noGrp="1"/>
          </p:cNvSpPr>
          <p:nvPr>
            <p:ph type="ftr" sz="quarter" idx="11"/>
          </p:nvPr>
        </p:nvSpPr>
        <p:spPr/>
        <p:txBody>
          <a:bodyPr/>
          <a:lstStyle/>
          <a:p>
            <a:r>
              <a:rPr lang="en-IE"/>
              <a:t>SHeeney23</a:t>
            </a:r>
          </a:p>
        </p:txBody>
      </p:sp>
      <p:pic>
        <p:nvPicPr>
          <p:cNvPr id="6" name="Picture 5">
            <a:extLst>
              <a:ext uri="{FF2B5EF4-FFF2-40B4-BE49-F238E27FC236}">
                <a16:creationId xmlns:a16="http://schemas.microsoft.com/office/drawing/2014/main" id="{68D4117C-3F07-CD9C-1CCC-2E6211E1562C}"/>
              </a:ext>
            </a:extLst>
          </p:cNvPr>
          <p:cNvPicPr>
            <a:picLocks noChangeAspect="1"/>
          </p:cNvPicPr>
          <p:nvPr/>
        </p:nvPicPr>
        <p:blipFill>
          <a:blip r:embed="rId2"/>
          <a:stretch>
            <a:fillRect/>
          </a:stretch>
        </p:blipFill>
        <p:spPr>
          <a:xfrm>
            <a:off x="8468498" y="5492779"/>
            <a:ext cx="3663778" cy="1365221"/>
          </a:xfrm>
          <a:prstGeom prst="rect">
            <a:avLst/>
          </a:prstGeom>
        </p:spPr>
      </p:pic>
    </p:spTree>
    <p:extLst>
      <p:ext uri="{BB962C8B-B14F-4D97-AF65-F5344CB8AC3E}">
        <p14:creationId xmlns:p14="http://schemas.microsoft.com/office/powerpoint/2010/main" val="2482977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55017A-4485-1F47-02ED-47816424DEEF}"/>
              </a:ext>
            </a:extLst>
          </p:cNvPr>
          <p:cNvSpPr>
            <a:spLocks noGrp="1"/>
          </p:cNvSpPr>
          <p:nvPr>
            <p:ph idx="1"/>
          </p:nvPr>
        </p:nvSpPr>
        <p:spPr>
          <a:xfrm>
            <a:off x="838200" y="2133599"/>
            <a:ext cx="10515600" cy="4043363"/>
          </a:xfrm>
        </p:spPr>
        <p:txBody>
          <a:bodyPr>
            <a:normAutofit fontScale="55000" lnSpcReduction="20000"/>
          </a:bodyPr>
          <a:lstStyle/>
          <a:p>
            <a:r>
              <a:rPr lang="en-IE" dirty="0"/>
              <a:t>Ethereum </a:t>
            </a:r>
          </a:p>
          <a:p>
            <a:r>
              <a:rPr lang="en-IE" dirty="0"/>
              <a:t>Implications of this: </a:t>
            </a:r>
          </a:p>
          <a:p>
            <a:r>
              <a:rPr lang="en-IE" dirty="0"/>
              <a:t>Decentralized: No controlling entity or individual * Discuss</a:t>
            </a:r>
          </a:p>
          <a:p>
            <a:r>
              <a:rPr lang="en-IE" dirty="0"/>
              <a:t>No Single point of failure </a:t>
            </a:r>
          </a:p>
          <a:p>
            <a:r>
              <a:rPr lang="en-IE" dirty="0"/>
              <a:t>Immutability * Discuss</a:t>
            </a:r>
          </a:p>
          <a:p>
            <a:r>
              <a:rPr lang="en-IE" dirty="0"/>
              <a:t>Corruption / Tamper proof – based on consensus , making censorship impossible</a:t>
            </a:r>
          </a:p>
          <a:p>
            <a:r>
              <a:rPr lang="en-IE" dirty="0"/>
              <a:t>Zero Downtime</a:t>
            </a:r>
          </a:p>
          <a:p>
            <a:r>
              <a:rPr lang="en-IE" dirty="0"/>
              <a:t>Difficult to control from a regulatory perspective</a:t>
            </a:r>
          </a:p>
          <a:p>
            <a:endParaRPr lang="en-IE" dirty="0"/>
          </a:p>
          <a:p>
            <a:r>
              <a:rPr lang="en-IE" dirty="0"/>
              <a:t>DAO ( Decentralized Autonomous Organisation ) :</a:t>
            </a:r>
          </a:p>
          <a:p>
            <a:r>
              <a:rPr lang="en-IE" dirty="0"/>
              <a:t>Fully autonomous organisation with no single leader</a:t>
            </a:r>
          </a:p>
          <a:p>
            <a:r>
              <a:rPr lang="en-IE" dirty="0"/>
              <a:t>Run by a series of smart contracts designed to replace the rules and structure of a traditional organisation eliminating the need for centralized control</a:t>
            </a:r>
          </a:p>
          <a:p>
            <a:r>
              <a:rPr lang="en-IE" dirty="0"/>
              <a:t>Ownership represented by tokens, which act as token rights.</a:t>
            </a:r>
          </a:p>
          <a:p>
            <a:endParaRPr lang="en-IE" dirty="0"/>
          </a:p>
        </p:txBody>
      </p:sp>
      <p:sp>
        <p:nvSpPr>
          <p:cNvPr id="4" name="Footer Placeholder 3">
            <a:extLst>
              <a:ext uri="{FF2B5EF4-FFF2-40B4-BE49-F238E27FC236}">
                <a16:creationId xmlns:a16="http://schemas.microsoft.com/office/drawing/2014/main" id="{27315981-A75D-6FBB-8281-A77155831B08}"/>
              </a:ext>
            </a:extLst>
          </p:cNvPr>
          <p:cNvSpPr>
            <a:spLocks noGrp="1"/>
          </p:cNvSpPr>
          <p:nvPr>
            <p:ph type="ftr" sz="quarter" idx="11"/>
          </p:nvPr>
        </p:nvSpPr>
        <p:spPr/>
        <p:txBody>
          <a:bodyPr/>
          <a:lstStyle/>
          <a:p>
            <a:r>
              <a:rPr lang="en-IE"/>
              <a:t>SHeeney23</a:t>
            </a:r>
          </a:p>
        </p:txBody>
      </p:sp>
      <p:pic>
        <p:nvPicPr>
          <p:cNvPr id="6" name="Picture 5">
            <a:extLst>
              <a:ext uri="{FF2B5EF4-FFF2-40B4-BE49-F238E27FC236}">
                <a16:creationId xmlns:a16="http://schemas.microsoft.com/office/drawing/2014/main" id="{C4F61799-3037-27E9-CFCB-FE3175B75E4D}"/>
              </a:ext>
            </a:extLst>
          </p:cNvPr>
          <p:cNvPicPr>
            <a:picLocks noChangeAspect="1"/>
          </p:cNvPicPr>
          <p:nvPr/>
        </p:nvPicPr>
        <p:blipFill>
          <a:blip r:embed="rId2"/>
          <a:stretch>
            <a:fillRect/>
          </a:stretch>
        </p:blipFill>
        <p:spPr>
          <a:xfrm>
            <a:off x="2496064" y="0"/>
            <a:ext cx="6623222" cy="1971564"/>
          </a:xfrm>
          <a:prstGeom prst="rect">
            <a:avLst/>
          </a:prstGeom>
        </p:spPr>
      </p:pic>
    </p:spTree>
    <p:extLst>
      <p:ext uri="{BB962C8B-B14F-4D97-AF65-F5344CB8AC3E}">
        <p14:creationId xmlns:p14="http://schemas.microsoft.com/office/powerpoint/2010/main" val="3981771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3848A-BCBC-D748-78F4-F775CBA63F5C}"/>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79640065-72A3-061B-3F2F-19326C870D09}"/>
              </a:ext>
            </a:extLst>
          </p:cNvPr>
          <p:cNvSpPr>
            <a:spLocks noGrp="1"/>
          </p:cNvSpPr>
          <p:nvPr>
            <p:ph idx="1"/>
          </p:nvPr>
        </p:nvSpPr>
        <p:spPr/>
        <p:txBody>
          <a:bodyPr/>
          <a:lstStyle/>
          <a:p>
            <a:endParaRPr lang="en-IE"/>
          </a:p>
        </p:txBody>
      </p:sp>
      <p:sp>
        <p:nvSpPr>
          <p:cNvPr id="4" name="Footer Placeholder 3">
            <a:extLst>
              <a:ext uri="{FF2B5EF4-FFF2-40B4-BE49-F238E27FC236}">
                <a16:creationId xmlns:a16="http://schemas.microsoft.com/office/drawing/2014/main" id="{A3EFFB97-F9A1-20DE-FC02-FA399EDDF1ED}"/>
              </a:ext>
            </a:extLst>
          </p:cNvPr>
          <p:cNvSpPr>
            <a:spLocks noGrp="1"/>
          </p:cNvSpPr>
          <p:nvPr>
            <p:ph type="ftr" sz="quarter" idx="11"/>
          </p:nvPr>
        </p:nvSpPr>
        <p:spPr/>
        <p:txBody>
          <a:bodyPr/>
          <a:lstStyle/>
          <a:p>
            <a:r>
              <a:rPr lang="en-IE"/>
              <a:t>SHeeney23</a:t>
            </a:r>
          </a:p>
        </p:txBody>
      </p:sp>
      <p:pic>
        <p:nvPicPr>
          <p:cNvPr id="5" name="Picture 4">
            <a:extLst>
              <a:ext uri="{FF2B5EF4-FFF2-40B4-BE49-F238E27FC236}">
                <a16:creationId xmlns:a16="http://schemas.microsoft.com/office/drawing/2014/main" id="{04922D33-2F41-F0D4-269E-44468650999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087578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TotalTime>
  <Words>1164</Words>
  <Application>Microsoft Office PowerPoint</Application>
  <PresentationFormat>Widescreen</PresentationFormat>
  <Paragraphs>184</Paragraphs>
  <Slides>22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Blockchain Two</vt:lpstr>
      <vt:lpstr>Revision From Week One &amp; Two</vt:lpstr>
      <vt:lpstr>PowerPoint Presentation</vt:lpstr>
      <vt:lpstr>Cryptographic Functions Linking Blocks</vt:lpstr>
      <vt:lpstr>Dr Merkle and His Tree</vt:lpstr>
      <vt:lpstr>Merkle Tree</vt:lpstr>
      <vt:lpstr>Merkle Proof</vt:lpstr>
      <vt:lpstr>Immutability</vt:lpstr>
      <vt:lpstr>Difficulty in BTC  </vt:lpstr>
      <vt:lpstr>POW Proof of Work </vt:lpstr>
      <vt:lpstr>PowerPoint Presentation</vt:lpstr>
      <vt:lpstr>Byzantine Fault Tolerance</vt:lpstr>
      <vt:lpstr>The Byzantine Generals  Problem</vt:lpstr>
      <vt:lpstr>PowerPoint Presentation</vt:lpstr>
      <vt:lpstr>Important Points in Crypto History</vt:lpstr>
      <vt:lpstr>PowerPoint Presentation</vt:lpstr>
      <vt:lpstr>Notes on MetaMask &amp;  Faucets</vt:lpstr>
      <vt:lpstr>Smart Contracts Prologue, an event or act that leads to another.</vt:lpstr>
      <vt:lpstr>PowerPoint Presentation</vt:lpstr>
      <vt:lpstr>Electronic Contracts , but much more ! !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Two</dc:title>
  <dc:creator>Rommel;SHeeney</dc:creator>
  <cp:keywords>DoNotUseWithOutPermission SHeeney</cp:keywords>
  <cp:lastModifiedBy>SHeeney</cp:lastModifiedBy>
  <cp:revision>42</cp:revision>
  <dcterms:created xsi:type="dcterms:W3CDTF">2023-02-01T15:11:42Z</dcterms:created>
  <dcterms:modified xsi:type="dcterms:W3CDTF">2023-02-08T17:52:30Z</dcterms:modified>
</cp:coreProperties>
</file>